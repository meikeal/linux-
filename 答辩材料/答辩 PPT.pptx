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B9596-6810-FAAE-B068-9FA33DBA0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0929C1-9306-F2CB-DE76-36030B552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77E430-14D6-BE9F-03D7-A6FBF26C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85AC3-29AB-ADFB-FED0-92D629A6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A45383-B610-2DB6-B7E5-DAC9D37F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6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9CFD4-E07B-5134-9CA0-D0D2535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B8CFB-9A78-58DE-BC8D-A2A9CE47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549FA-1C9C-1597-4AE5-A0D8102F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B4E4E-176A-64A8-CFA6-6E465564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A2D43-834B-0716-4A88-8C17F57D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95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A1E98-ECED-D94F-E5F2-8E0C38F3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8D69ED-E31C-F833-10F4-17EC2A59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89098-B2FB-6D53-BC28-13AA7D13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91D50-2DD7-5AE3-1D69-8A3B09AF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654E65-1111-F855-078F-E8D04332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2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BDB2A-0100-3AF2-6048-0AD1CF15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822338-9661-B9DE-B5B9-1353C31FE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A1BF74-178C-AD4E-7B18-4172DB8F6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DCAB65-26FF-B01D-65C4-1C603899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70A9CB-E418-45BB-2189-763336BA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E77E61-495A-C58A-CC17-CE829893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43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DF1A9-9718-E43F-849B-AAB5D2AE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2615A1-006C-FB84-5C6D-3F4ED560D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FF81FA-4EE6-751E-E5EE-9C30D9D4A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47C804-FC13-828A-7B57-41D0F1BEA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6E2D3-674C-CE30-F666-2ADBC67BE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AF6AC3-F6BF-3748-16F2-932D9C15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046E24-8D85-E834-420A-6D7FCF89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6C074B-8A27-B7A8-9495-76FDF886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2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76EA0-555E-4FCC-277F-7809372A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FEEC-63C9-98D0-3C15-8FA646DB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C776C4-06C7-C447-EFC6-283CB808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F61F37-C806-7236-8B3C-A5FE17F9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251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8CB437-A272-A861-A1EA-4B6D74D6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B3245E-9A47-F156-0E52-8D20BD25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6D68-8F72-1362-E122-A241B1C1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17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B647-E1A2-7D4C-97DF-6530BB99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305B5-4E94-1BAC-7F78-271B7233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B0BB8E-AEB5-985C-4E53-77917C493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658554-B25F-3C2D-1CC3-2465EC99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F6D29A-33AA-277D-8729-2A799F86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4F0765-07B4-594C-2894-0088924E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77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D6BA1-BA4D-E685-B2F6-3B650E45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684250-A763-BFB7-896F-436414F27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BF7997-8EB6-E8E3-81E9-DE37398AC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E69BEF-D4DB-E29F-03C3-3BF9F9A7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0C0813-9B20-5DA4-194D-D27AC089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BD3D9F-20B8-717A-EC15-1CB96294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76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08849-8C88-1C16-85F9-8A35A18D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0960DA-B59E-E9F9-B2C8-589BB5596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E607B-377E-7DC1-E4DD-3C252833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2F8C7-228C-8AB3-43C9-9BD0A6A3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BC23C1-E32E-716B-4213-7D05D617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72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6019FF-575D-AFDF-D5CC-18087506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1B31B3-7A6F-A0FF-39F3-395666BF8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1C08F-E60C-1F35-2D5C-947857F61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AF063A-1F92-18CE-E389-E20A8950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5E9423-F1AF-E689-1F11-214EDAF2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1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E2A908-020E-78CD-302B-EFEA64A56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52F744-FE19-BB92-BA28-47C76CF1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AA615-64E7-EA0C-4730-04159E838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7A36B-65D8-4843-8FCC-AF5F8010E46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7B4D25-DE76-3465-1D48-926FC5341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B4C10-2C24-DC80-F199-2F6FFDDD9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E3203-A9FA-4C17-BE31-606F6DE79A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34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5994FD-582C-0384-A2F4-8DCE66946524}"/>
              </a:ext>
            </a:extLst>
          </p:cNvPr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547BC9-6358-E035-966E-6E27940B44D2}"/>
              </a:ext>
            </a:extLst>
          </p:cNvPr>
          <p:cNvSpPr txBox="1"/>
          <p:nvPr/>
        </p:nvSpPr>
        <p:spPr>
          <a:xfrm>
            <a:off x="635000" y="736600"/>
            <a:ext cx="266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8164F2-D2DD-A77A-9BED-9863B94EBB5F}"/>
              </a:ext>
            </a:extLst>
          </p:cNvPr>
          <p:cNvSpPr/>
          <p:nvPr/>
        </p:nvSpPr>
        <p:spPr>
          <a:xfrm>
            <a:off x="660400" y="1574800"/>
            <a:ext cx="2692400" cy="353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C8949A-9E0A-1CA0-CE31-7C70CA403727}"/>
              </a:ext>
            </a:extLst>
          </p:cNvPr>
          <p:cNvSpPr txBox="1"/>
          <p:nvPr/>
        </p:nvSpPr>
        <p:spPr>
          <a:xfrm>
            <a:off x="838200" y="1701800"/>
            <a:ext cx="233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93C5FD"/>
                </a:solidFill>
                <a:latin typeface="Consolas" panose="020B0609020204030204" pitchFamily="49" charset="0"/>
              </a:rPr>
              <a:t>demo command</a:t>
            </a:r>
            <a:endParaRPr lang="zh-CN" altLang="en-US" sz="850">
              <a:solidFill>
                <a:srgbClr val="93C5FD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212D4E-2BFC-C628-323D-BF94E67E8B29}"/>
              </a:ext>
            </a:extLst>
          </p:cNvPr>
          <p:cNvSpPr txBox="1"/>
          <p:nvPr/>
        </p:nvSpPr>
        <p:spPr>
          <a:xfrm>
            <a:off x="838200" y="2006600"/>
            <a:ext cx="2336800" cy="203132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$ ./ops-assist all
[1/4] system check
[2/4] log analyze
[3/4] diagnose
[4/4] report
[SUCCESS] report generated</a:t>
            </a:r>
            <a:endParaRPr lang="zh-CN" altLang="en-US" sz="840">
              <a:solidFill>
                <a:srgbClr val="E5E7E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974270-A925-F3CD-E2BC-10A23D3BE5BF}"/>
              </a:ext>
            </a:extLst>
          </p:cNvPr>
          <p:cNvSpPr txBox="1"/>
          <p:nvPr/>
        </p:nvSpPr>
        <p:spPr>
          <a:xfrm>
            <a:off x="4445000" y="990600"/>
            <a:ext cx="6604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31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 </a:t>
            </a:r>
            <a:r>
              <a:rPr lang="zh-CN" altLang="en-US" sz="31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
与日志诊断助手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97FAAE-C2F7-A85A-9F69-B3D12C0F1364}"/>
              </a:ext>
            </a:extLst>
          </p:cNvPr>
          <p:cNvSpPr txBox="1"/>
          <p:nvPr/>
        </p:nvSpPr>
        <p:spPr>
          <a:xfrm>
            <a:off x="4495800" y="24130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《Linux </a:t>
            </a:r>
            <a:r>
              <a:rPr lang="zh-CN" altLang="en-US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系统管理与 </a:t>
            </a:r>
            <a:r>
              <a:rPr lang="en-US" altLang="zh-CN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Shell </a:t>
            </a:r>
            <a:r>
              <a:rPr lang="zh-CN" altLang="en-US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编程</a:t>
            </a:r>
            <a:r>
              <a:rPr lang="en-US" altLang="zh-CN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4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课程项目答辩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64BD571-59C8-82EA-CBBE-2F117993215F}"/>
              </a:ext>
            </a:extLst>
          </p:cNvPr>
          <p:cNvSpPr/>
          <p:nvPr/>
        </p:nvSpPr>
        <p:spPr>
          <a:xfrm>
            <a:off x="4495800" y="2870200"/>
            <a:ext cx="1066800" cy="330200"/>
          </a:xfrm>
          <a:prstGeom prst="round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92CDE-E039-9B4C-A45B-F54B45E0E856}"/>
              </a:ext>
            </a:extLst>
          </p:cNvPr>
          <p:cNvSpPr txBox="1"/>
          <p:nvPr/>
        </p:nvSpPr>
        <p:spPr>
          <a:xfrm>
            <a:off x="4546600" y="2933700"/>
            <a:ext cx="965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Bash</a:t>
            </a:r>
            <a:endParaRPr lang="zh-CN" altLang="en-US" sz="92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CD70A5A-77D0-5269-643E-75F0A8A58CCD}"/>
              </a:ext>
            </a:extLst>
          </p:cNvPr>
          <p:cNvSpPr/>
          <p:nvPr/>
        </p:nvSpPr>
        <p:spPr>
          <a:xfrm>
            <a:off x="5842000" y="2870200"/>
            <a:ext cx="1600200" cy="330200"/>
          </a:xfrm>
          <a:prstGeom prst="round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991CD4-5948-10EF-B50C-7B4FA532E2BA}"/>
              </a:ext>
            </a:extLst>
          </p:cNvPr>
          <p:cNvSpPr txBox="1"/>
          <p:nvPr/>
        </p:nvSpPr>
        <p:spPr>
          <a:xfrm>
            <a:off x="5892800" y="2933700"/>
            <a:ext cx="1498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grep/sed/awk</a:t>
            </a:r>
            <a:endParaRPr lang="zh-CN" altLang="en-US" sz="92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E101326-4A90-41C6-E464-F775C6C3CA3B}"/>
              </a:ext>
            </a:extLst>
          </p:cNvPr>
          <p:cNvSpPr/>
          <p:nvPr/>
        </p:nvSpPr>
        <p:spPr>
          <a:xfrm>
            <a:off x="7696200" y="2870200"/>
            <a:ext cx="1168400" cy="3302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4687F9-9357-69E7-878C-A3426976ED90}"/>
              </a:ext>
            </a:extLst>
          </p:cNvPr>
          <p:cNvSpPr txBox="1"/>
          <p:nvPr/>
        </p:nvSpPr>
        <p:spPr>
          <a:xfrm>
            <a:off x="7747000" y="2933700"/>
            <a:ext cx="106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endParaRPr lang="zh-CN" altLang="en-US" sz="92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5E76625-E5B9-ABC9-30DE-42A7B8D43C72}"/>
              </a:ext>
            </a:extLst>
          </p:cNvPr>
          <p:cNvSpPr/>
          <p:nvPr/>
        </p:nvSpPr>
        <p:spPr>
          <a:xfrm>
            <a:off x="9118600" y="2870200"/>
            <a:ext cx="889000" cy="330200"/>
          </a:xfrm>
          <a:prstGeom prst="round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A3AD3D-1D28-8459-4D38-A8F8B6883774}"/>
              </a:ext>
            </a:extLst>
          </p:cNvPr>
          <p:cNvSpPr txBox="1"/>
          <p:nvPr/>
        </p:nvSpPr>
        <p:spPr>
          <a:xfrm>
            <a:off x="9169400" y="2933700"/>
            <a:ext cx="787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endParaRPr lang="zh-CN" altLang="en-US" sz="92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9B7AB8-793B-63A9-5552-6E5D83083912}"/>
              </a:ext>
            </a:extLst>
          </p:cNvPr>
          <p:cNvSpPr txBox="1"/>
          <p:nvPr/>
        </p:nvSpPr>
        <p:spPr>
          <a:xfrm>
            <a:off x="4495800" y="3911600"/>
            <a:ext cx="711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服务对象：课程实验机 </a:t>
            </a:r>
            <a:r>
              <a:rPr lang="en-US" altLang="zh-CN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WSL / </a:t>
            </a:r>
            <a:r>
              <a:rPr lang="zh-CN" altLang="en-US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小型 </a:t>
            </a:r>
            <a:r>
              <a:rPr lang="en-US" altLang="zh-CN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主机 </a:t>
            </a:r>
            <a:r>
              <a:rPr lang="en-US" altLang="zh-CN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日志存储目录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6BAEAA-18CB-D77C-839B-59E9CCA67A1A}"/>
              </a:ext>
            </a:extLst>
          </p:cNvPr>
          <p:cNvSpPr txBox="1"/>
          <p:nvPr/>
        </p:nvSpPr>
        <p:spPr>
          <a:xfrm>
            <a:off x="4495800" y="4394200"/>
            <a:ext cx="685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3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核心目标：把分散的 </a:t>
            </a:r>
            <a:r>
              <a:rPr lang="en-US" altLang="zh-CN" sz="13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 </a:t>
            </a:r>
            <a:r>
              <a:rPr lang="zh-CN" altLang="en-US" sz="13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运维命令串成可复用、可测试、可归档的一键巡检流程。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B55BE1-5337-2C2B-C19F-56932239E7AB}"/>
              </a:ext>
            </a:extLst>
          </p:cNvPr>
          <p:cNvSpPr txBox="1"/>
          <p:nvPr/>
        </p:nvSpPr>
        <p:spPr>
          <a:xfrm>
            <a:off x="4495800" y="5892800"/>
            <a:ext cx="292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答辩日期：</a:t>
            </a:r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71115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EAC65D-AC3D-5890-39BA-60670DDF3BC3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项目需求与可验证目标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AC2BB3-E60D-B6E7-266D-7A05217A8353}"/>
              </a:ext>
            </a:extLst>
          </p:cNvPr>
          <p:cNvSpPr txBox="1"/>
          <p:nvPr/>
        </p:nvSpPr>
        <p:spPr>
          <a:xfrm>
            <a:off x="9588500" y="393700"/>
            <a:ext cx="228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谁在用，解决什么问题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167A831-8589-8A62-02C8-46DD9A681203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C7C7A1B-92EC-3E87-918B-16196DB3833E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722252-7ACF-788B-B5CD-11D3A45778C3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FB8579-5F9B-707A-CB71-0FB77E7D9532}"/>
              </a:ext>
            </a:extLst>
          </p:cNvPr>
          <p:cNvSpPr/>
          <p:nvPr/>
        </p:nvSpPr>
        <p:spPr>
          <a:xfrm>
            <a:off x="660400" y="1168400"/>
            <a:ext cx="3327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0B4509-CE0A-AD5E-6514-5C328C05286E}"/>
              </a:ext>
            </a:extLst>
          </p:cNvPr>
          <p:cNvSpPr/>
          <p:nvPr/>
        </p:nvSpPr>
        <p:spPr>
          <a:xfrm>
            <a:off x="660400" y="1168400"/>
            <a:ext cx="76200" cy="12446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A2969A-6D32-B92D-A965-5FFB00F090AC}"/>
              </a:ext>
            </a:extLst>
          </p:cNvPr>
          <p:cNvSpPr txBox="1"/>
          <p:nvPr/>
        </p:nvSpPr>
        <p:spPr>
          <a:xfrm>
            <a:off x="863600" y="1295400"/>
            <a:ext cx="2971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84C853-AAB8-066F-8F41-A9AA8BE5930A}"/>
              </a:ext>
            </a:extLst>
          </p:cNvPr>
          <p:cNvSpPr txBox="1"/>
          <p:nvPr/>
        </p:nvSpPr>
        <p:spPr>
          <a:xfrm>
            <a:off x="863600" y="1714500"/>
            <a:ext cx="29718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磁盘被日志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缓存占满
服务异常退出未及时发现
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SSH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登录失败持续增加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F868DA-7A8F-2717-D7F6-0B4C0C4C60D4}"/>
              </a:ext>
            </a:extLst>
          </p:cNvPr>
          <p:cNvSpPr/>
          <p:nvPr/>
        </p:nvSpPr>
        <p:spPr>
          <a:xfrm>
            <a:off x="660400" y="2692400"/>
            <a:ext cx="3327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913CEB-3D6E-9A82-EAD7-6A0F36027D21}"/>
              </a:ext>
            </a:extLst>
          </p:cNvPr>
          <p:cNvSpPr/>
          <p:nvPr/>
        </p:nvSpPr>
        <p:spPr>
          <a:xfrm>
            <a:off x="660400" y="2692400"/>
            <a:ext cx="76200" cy="1244600"/>
          </a:xfrm>
          <a:prstGeom prst="rect">
            <a:avLst/>
          </a:prstGeom>
          <a:solidFill>
            <a:srgbClr val="C64040"/>
          </a:solidFill>
          <a:ln w="12700">
            <a:solidFill>
              <a:srgbClr val="C6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D25667-DC82-BF4F-114E-D50952A2CB8A}"/>
              </a:ext>
            </a:extLst>
          </p:cNvPr>
          <p:cNvSpPr txBox="1"/>
          <p:nvPr/>
        </p:nvSpPr>
        <p:spPr>
          <a:xfrm>
            <a:off x="863600" y="2819400"/>
            <a:ext cx="2971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现有做法痛点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B1A5BB-9B3F-3A53-7A06-07A6B97E6DAE}"/>
              </a:ext>
            </a:extLst>
          </p:cNvPr>
          <p:cNvSpPr txBox="1"/>
          <p:nvPr/>
        </p:nvSpPr>
        <p:spPr>
          <a:xfrm>
            <a:off x="863600" y="3238500"/>
            <a:ext cx="29718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df/free/ps/ss/systemctl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分散执行
人工检查容易遗漏
结果不方便留档对比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58A076-63F9-F7B7-C2F6-AAC06AF5E2AA}"/>
              </a:ext>
            </a:extLst>
          </p:cNvPr>
          <p:cNvSpPr/>
          <p:nvPr/>
        </p:nvSpPr>
        <p:spPr>
          <a:xfrm>
            <a:off x="660400" y="4216400"/>
            <a:ext cx="3327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D16ADC-A075-F865-F4C5-DCCA33A484C7}"/>
              </a:ext>
            </a:extLst>
          </p:cNvPr>
          <p:cNvSpPr/>
          <p:nvPr/>
        </p:nvSpPr>
        <p:spPr>
          <a:xfrm>
            <a:off x="660400" y="4216400"/>
            <a:ext cx="76200" cy="12446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5EA331-0370-D6C2-C65F-44B2DDEFCEF2}"/>
              </a:ext>
            </a:extLst>
          </p:cNvPr>
          <p:cNvSpPr txBox="1"/>
          <p:nvPr/>
        </p:nvSpPr>
        <p:spPr>
          <a:xfrm>
            <a:off x="863600" y="4343400"/>
            <a:ext cx="2971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项目边界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52E149-BE18-8A16-39DB-4326B043C5E5}"/>
              </a:ext>
            </a:extLst>
          </p:cNvPr>
          <p:cNvSpPr txBox="1"/>
          <p:nvPr/>
        </p:nvSpPr>
        <p:spPr>
          <a:xfrm>
            <a:off x="863600" y="4762500"/>
            <a:ext cx="29718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不是大型平台
聚焦命令行自动化
用样例日志支持无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sudo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47D6F52-AF30-13C5-63BC-1AA6D03645C9}"/>
              </a:ext>
            </a:extLst>
          </p:cNvPr>
          <p:cNvSpPr/>
          <p:nvPr/>
        </p:nvSpPr>
        <p:spPr>
          <a:xfrm>
            <a:off x="4394200" y="1168400"/>
            <a:ext cx="7035800" cy="4622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CE3C6C-0A9A-EEE4-D9FB-CF98E6D8F9CB}"/>
              </a:ext>
            </a:extLst>
          </p:cNvPr>
          <p:cNvSpPr txBox="1"/>
          <p:nvPr/>
        </p:nvSpPr>
        <p:spPr>
          <a:xfrm>
            <a:off x="4724400" y="1473200"/>
            <a:ext cx="2159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7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验收目标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5EE18F-0216-95D5-723A-C315644114E0}"/>
              </a:ext>
            </a:extLst>
          </p:cNvPr>
          <p:cNvSpPr/>
          <p:nvPr/>
        </p:nvSpPr>
        <p:spPr>
          <a:xfrm>
            <a:off x="4749800" y="1955800"/>
            <a:ext cx="1092200" cy="330200"/>
          </a:xfrm>
          <a:prstGeom prst="round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7FB142-E814-9B80-0D44-16CF481C3C7D}"/>
              </a:ext>
            </a:extLst>
          </p:cNvPr>
          <p:cNvSpPr txBox="1"/>
          <p:nvPr/>
        </p:nvSpPr>
        <p:spPr>
          <a:xfrm>
            <a:off x="4800600" y="2019300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自动检测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3BDC99-BEBC-B5C6-2600-0E3D543B0D5B}"/>
              </a:ext>
            </a:extLst>
          </p:cNvPr>
          <p:cNvSpPr txBox="1"/>
          <p:nvPr/>
        </p:nvSpPr>
        <p:spPr>
          <a:xfrm>
            <a:off x="6197600" y="20066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 /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内存 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磁盘 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端口 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服务状态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22AEB70-7CD3-DE93-B48B-521433B487A9}"/>
              </a:ext>
            </a:extLst>
          </p:cNvPr>
          <p:cNvSpPr/>
          <p:nvPr/>
        </p:nvSpPr>
        <p:spPr>
          <a:xfrm>
            <a:off x="4749800" y="2616200"/>
            <a:ext cx="1092200" cy="3302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CE07E4-18BC-ECEC-78C1-66F53B75A8FE}"/>
              </a:ext>
            </a:extLst>
          </p:cNvPr>
          <p:cNvSpPr txBox="1"/>
          <p:nvPr/>
        </p:nvSpPr>
        <p:spPr>
          <a:xfrm>
            <a:off x="4800600" y="2679700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自动分析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F00EFB-C9A2-CBFF-C082-24A89039218D}"/>
              </a:ext>
            </a:extLst>
          </p:cNvPr>
          <p:cNvSpPr txBox="1"/>
          <p:nvPr/>
        </p:nvSpPr>
        <p:spPr>
          <a:xfrm>
            <a:off x="6197600" y="26670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error / failed / denied / timeout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等日志异常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38FC36D-C407-C9DF-8E3D-70D93AA0096F}"/>
              </a:ext>
            </a:extLst>
          </p:cNvPr>
          <p:cNvSpPr/>
          <p:nvPr/>
        </p:nvSpPr>
        <p:spPr>
          <a:xfrm>
            <a:off x="4749800" y="3276600"/>
            <a:ext cx="1092200" cy="330200"/>
          </a:xfrm>
          <a:prstGeom prst="round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1CC1B0-A5F0-3A02-6FCF-519626D09CB6}"/>
              </a:ext>
            </a:extLst>
          </p:cNvPr>
          <p:cNvSpPr txBox="1"/>
          <p:nvPr/>
        </p:nvSpPr>
        <p:spPr>
          <a:xfrm>
            <a:off x="4800600" y="3340100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自动诊断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63C2687-A0C2-E7E4-83BC-9526E7D4DEB8}"/>
              </a:ext>
            </a:extLst>
          </p:cNvPr>
          <p:cNvSpPr txBox="1"/>
          <p:nvPr/>
        </p:nvSpPr>
        <p:spPr>
          <a:xfrm>
            <a:off x="6197600" y="33274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根据规则生成可执行排查建议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04C2C51-79DC-B5C6-6D61-989D26DB00E4}"/>
              </a:ext>
            </a:extLst>
          </p:cNvPr>
          <p:cNvSpPr/>
          <p:nvPr/>
        </p:nvSpPr>
        <p:spPr>
          <a:xfrm>
            <a:off x="4749800" y="3937000"/>
            <a:ext cx="1092200" cy="3302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A1538A-330F-0853-05F4-96F9BFFD47A3}"/>
              </a:ext>
            </a:extLst>
          </p:cNvPr>
          <p:cNvSpPr txBox="1"/>
          <p:nvPr/>
        </p:nvSpPr>
        <p:spPr>
          <a:xfrm>
            <a:off x="4800600" y="4000500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自动报告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38C717-CF5B-E9B9-D6B2-FFC12DFC28CA}"/>
              </a:ext>
            </a:extLst>
          </p:cNvPr>
          <p:cNvSpPr txBox="1"/>
          <p:nvPr/>
        </p:nvSpPr>
        <p:spPr>
          <a:xfrm>
            <a:off x="6197600" y="39878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/ HTML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巡检报告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FDC91CD-E577-3868-4A1F-1A1BB7AF5AF6}"/>
              </a:ext>
            </a:extLst>
          </p:cNvPr>
          <p:cNvSpPr/>
          <p:nvPr/>
        </p:nvSpPr>
        <p:spPr>
          <a:xfrm>
            <a:off x="4749800" y="4597400"/>
            <a:ext cx="1092200" cy="330200"/>
          </a:xfrm>
          <a:prstGeom prst="round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188D1B-FE11-77C6-7C71-D1101A14A57C}"/>
              </a:ext>
            </a:extLst>
          </p:cNvPr>
          <p:cNvSpPr txBox="1"/>
          <p:nvPr/>
        </p:nvSpPr>
        <p:spPr>
          <a:xfrm>
            <a:off x="4800600" y="4660900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2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自动运行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EC3BFCB-66C4-AA75-0312-D3489785568D}"/>
              </a:ext>
            </a:extLst>
          </p:cNvPr>
          <p:cNvSpPr txBox="1"/>
          <p:nvPr/>
        </p:nvSpPr>
        <p:spPr>
          <a:xfrm>
            <a:off x="6197600" y="46482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 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支持每日</a:t>
            </a:r>
            <a:r>
              <a:rPr lang="en-US" altLang="zh-CN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每小时巡检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260BF13-F6B5-EE00-C91E-778F1E8C6FD2}"/>
              </a:ext>
            </a:extLst>
          </p:cNvPr>
          <p:cNvSpPr txBox="1"/>
          <p:nvPr/>
        </p:nvSpPr>
        <p:spPr>
          <a:xfrm>
            <a:off x="4749800" y="5245100"/>
            <a:ext cx="5969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可现场验证：运行 </a:t>
            </a:r>
            <a:r>
              <a:rPr lang="en-US" altLang="zh-CN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./ops-assist all </a:t>
            </a:r>
            <a:r>
              <a:rPr lang="zh-CN" altLang="en-US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后生成 </a:t>
            </a:r>
            <a:r>
              <a:rPr lang="en-US" altLang="zh-CN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logs/ </a:t>
            </a:r>
            <a:r>
              <a:rPr lang="zh-CN" altLang="en-US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reports/ </a:t>
            </a:r>
            <a:r>
              <a:rPr lang="zh-CN" altLang="en-US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产物。</a:t>
            </a:r>
          </a:p>
        </p:txBody>
      </p:sp>
    </p:spTree>
    <p:extLst>
      <p:ext uri="{BB962C8B-B14F-4D97-AF65-F5344CB8AC3E}">
        <p14:creationId xmlns:p14="http://schemas.microsoft.com/office/powerpoint/2010/main" val="242333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128A16-2099-0F85-4BD3-1DD6FA3D6B82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系统设计：模块化命令行流水线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17998-4196-E24D-6470-1CF430975429}"/>
              </a:ext>
            </a:extLst>
          </p:cNvPr>
          <p:cNvSpPr txBox="1"/>
          <p:nvPr/>
        </p:nvSpPr>
        <p:spPr>
          <a:xfrm>
            <a:off x="9588500" y="393700"/>
            <a:ext cx="228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 </a:t>
            </a:r>
            <a:r>
              <a:rPr lang="en-US" altLang="zh-CN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 </a:t>
            </a:r>
            <a:r>
              <a:rPr lang="en-US" altLang="zh-CN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5C2247-4B60-3E76-7F73-D9F059ACAC56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8E51F15-CFDF-CF2A-D880-CC7F288AE768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587B11-50BA-7FA0-4692-156D59B00EEE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B015C6A-F0D0-4076-603D-62CB2221BFA6}"/>
              </a:ext>
            </a:extLst>
          </p:cNvPr>
          <p:cNvSpPr/>
          <p:nvPr/>
        </p:nvSpPr>
        <p:spPr>
          <a:xfrm>
            <a:off x="787400" y="13208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A1B45F-FFE6-134E-31B7-2F16671F70E8}"/>
              </a:ext>
            </a:extLst>
          </p:cNvPr>
          <p:cNvSpPr/>
          <p:nvPr/>
        </p:nvSpPr>
        <p:spPr>
          <a:xfrm>
            <a:off x="787400" y="1320800"/>
            <a:ext cx="76200" cy="11176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D9D343-27E6-4988-577B-86859C0BE6D6}"/>
              </a:ext>
            </a:extLst>
          </p:cNvPr>
          <p:cNvSpPr txBox="1"/>
          <p:nvPr/>
        </p:nvSpPr>
        <p:spPr>
          <a:xfrm>
            <a:off x="990600" y="14478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
</a:t>
            </a:r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8A7305-7127-B7AF-F108-C9D925D7C3D5}"/>
              </a:ext>
            </a:extLst>
          </p:cNvPr>
          <p:cNvSpPr txBox="1"/>
          <p:nvPr/>
        </p:nvSpPr>
        <p:spPr>
          <a:xfrm>
            <a:off x="990600" y="18669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参数解析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命令分发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60F354B-0086-88CB-50AB-D9299451BD43}"/>
              </a:ext>
            </a:extLst>
          </p:cNvPr>
          <p:cNvSpPr/>
          <p:nvPr/>
        </p:nvSpPr>
        <p:spPr>
          <a:xfrm>
            <a:off x="3048000" y="13208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F79F79-2AEF-640D-8C0F-90EB04238613}"/>
              </a:ext>
            </a:extLst>
          </p:cNvPr>
          <p:cNvSpPr/>
          <p:nvPr/>
        </p:nvSpPr>
        <p:spPr>
          <a:xfrm>
            <a:off x="3048000" y="1320800"/>
            <a:ext cx="76200" cy="11176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1CA833-C971-0B4D-CC23-8D4F9708338B}"/>
              </a:ext>
            </a:extLst>
          </p:cNvPr>
          <p:cNvSpPr txBox="1"/>
          <p:nvPr/>
        </p:nvSpPr>
        <p:spPr>
          <a:xfrm>
            <a:off x="3251200" y="14478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check_system.sh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A5C793-171C-623A-8F8B-74E74A96D729}"/>
              </a:ext>
            </a:extLst>
          </p:cNvPr>
          <p:cNvSpPr txBox="1"/>
          <p:nvPr/>
        </p:nvSpPr>
        <p:spPr>
          <a:xfrm>
            <a:off x="3251200" y="18669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系统状态巡检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BEBA5CB-C488-E115-6190-DD0977D1B8B6}"/>
              </a:ext>
            </a:extLst>
          </p:cNvPr>
          <p:cNvSpPr/>
          <p:nvPr/>
        </p:nvSpPr>
        <p:spPr>
          <a:xfrm>
            <a:off x="5232400" y="13208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181C8-7D85-DF20-EDB2-24E70728FDD8}"/>
              </a:ext>
            </a:extLst>
          </p:cNvPr>
          <p:cNvSpPr/>
          <p:nvPr/>
        </p:nvSpPr>
        <p:spPr>
          <a:xfrm>
            <a:off x="5232400" y="1320800"/>
            <a:ext cx="76200" cy="11176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B5448B-2778-981C-028B-D01F7B6D34AF}"/>
              </a:ext>
            </a:extLst>
          </p:cNvPr>
          <p:cNvSpPr txBox="1"/>
          <p:nvPr/>
        </p:nvSpPr>
        <p:spPr>
          <a:xfrm>
            <a:off x="5435600" y="14478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log_analyzer.sh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C4C248-6DD7-C7E7-B8CD-D009618A6D62}"/>
              </a:ext>
            </a:extLst>
          </p:cNvPr>
          <p:cNvSpPr txBox="1"/>
          <p:nvPr/>
        </p:nvSpPr>
        <p:spPr>
          <a:xfrm>
            <a:off x="5435600" y="18669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日志关键词统计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524405C-C2AF-9B1B-5B5F-05372709A503}"/>
              </a:ext>
            </a:extLst>
          </p:cNvPr>
          <p:cNvSpPr/>
          <p:nvPr/>
        </p:nvSpPr>
        <p:spPr>
          <a:xfrm>
            <a:off x="7416800" y="13208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5B85B6-8294-8B82-9770-A7D12893AE0B}"/>
              </a:ext>
            </a:extLst>
          </p:cNvPr>
          <p:cNvSpPr/>
          <p:nvPr/>
        </p:nvSpPr>
        <p:spPr>
          <a:xfrm>
            <a:off x="7416800" y="1320800"/>
            <a:ext cx="76200" cy="11176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7E90F1-9D0D-6DD0-73FD-500FC6E2F8FE}"/>
              </a:ext>
            </a:extLst>
          </p:cNvPr>
          <p:cNvSpPr txBox="1"/>
          <p:nvPr/>
        </p:nvSpPr>
        <p:spPr>
          <a:xfrm>
            <a:off x="7620000" y="1447800"/>
            <a:ext cx="1320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diagnose.py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6213C7-1EFC-AD06-0689-DB68939D7176}"/>
              </a:ext>
            </a:extLst>
          </p:cNvPr>
          <p:cNvSpPr txBox="1"/>
          <p:nvPr/>
        </p:nvSpPr>
        <p:spPr>
          <a:xfrm>
            <a:off x="7620000" y="18669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规则诊断建议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03A8019-30EF-A332-5090-7DAF4E9D1937}"/>
              </a:ext>
            </a:extLst>
          </p:cNvPr>
          <p:cNvSpPr/>
          <p:nvPr/>
        </p:nvSpPr>
        <p:spPr>
          <a:xfrm>
            <a:off x="9601200" y="13208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DD2977-41B4-B9BD-ACD4-009E1FCF4937}"/>
              </a:ext>
            </a:extLst>
          </p:cNvPr>
          <p:cNvSpPr/>
          <p:nvPr/>
        </p:nvSpPr>
        <p:spPr>
          <a:xfrm>
            <a:off x="9601200" y="1320800"/>
            <a:ext cx="76200" cy="11176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26DDC8-9065-5F8C-615D-77B8680D8DE4}"/>
              </a:ext>
            </a:extLst>
          </p:cNvPr>
          <p:cNvSpPr txBox="1"/>
          <p:nvPr/>
        </p:nvSpPr>
        <p:spPr>
          <a:xfrm>
            <a:off x="9804400" y="1447800"/>
            <a:ext cx="1320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report.py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338994-526A-8E38-CF40-3E847F97C6B2}"/>
              </a:ext>
            </a:extLst>
          </p:cNvPr>
          <p:cNvSpPr txBox="1"/>
          <p:nvPr/>
        </p:nvSpPr>
        <p:spPr>
          <a:xfrm>
            <a:off x="9804400" y="1866900"/>
            <a:ext cx="1320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/ HTML</a:t>
            </a:r>
            <a:endParaRPr lang="zh-CN" altLang="en-US" sz="10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B1A59C6-7082-9367-89FE-77387EDD1D2B}"/>
              </a:ext>
            </a:extLst>
          </p:cNvPr>
          <p:cNvCxnSpPr/>
          <p:nvPr/>
        </p:nvCxnSpPr>
        <p:spPr>
          <a:xfrm>
            <a:off x="2463800" y="1879600"/>
            <a:ext cx="520700" cy="0"/>
          </a:xfrm>
          <a:prstGeom prst="line">
            <a:avLst/>
          </a:prstGeom>
          <a:ln w="20320">
            <a:solidFill>
              <a:srgbClr val="1D73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BD0BA14-E2A7-9BB0-3AC5-1E5F628F6E97}"/>
              </a:ext>
            </a:extLst>
          </p:cNvPr>
          <p:cNvCxnSpPr/>
          <p:nvPr/>
        </p:nvCxnSpPr>
        <p:spPr>
          <a:xfrm>
            <a:off x="4724400" y="1879600"/>
            <a:ext cx="444500" cy="0"/>
          </a:xfrm>
          <a:prstGeom prst="line">
            <a:avLst/>
          </a:prstGeom>
          <a:ln w="20320">
            <a:solidFill>
              <a:srgbClr val="1D73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4C1DF1F-A99B-7EF8-3DB2-C55066B4E3D7}"/>
              </a:ext>
            </a:extLst>
          </p:cNvPr>
          <p:cNvCxnSpPr/>
          <p:nvPr/>
        </p:nvCxnSpPr>
        <p:spPr>
          <a:xfrm>
            <a:off x="6908800" y="1879600"/>
            <a:ext cx="444500" cy="0"/>
          </a:xfrm>
          <a:prstGeom prst="line">
            <a:avLst/>
          </a:prstGeom>
          <a:ln w="20320">
            <a:solidFill>
              <a:srgbClr val="1D73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55053E8-4EA8-9525-FC05-ABCC8B84B841}"/>
              </a:ext>
            </a:extLst>
          </p:cNvPr>
          <p:cNvCxnSpPr/>
          <p:nvPr/>
        </p:nvCxnSpPr>
        <p:spPr>
          <a:xfrm>
            <a:off x="9093200" y="1879600"/>
            <a:ext cx="444500" cy="0"/>
          </a:xfrm>
          <a:prstGeom prst="line">
            <a:avLst/>
          </a:prstGeom>
          <a:ln w="20320">
            <a:solidFill>
              <a:srgbClr val="1D73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7977268-4712-F4B8-5AB6-1F172E5CF970}"/>
              </a:ext>
            </a:extLst>
          </p:cNvPr>
          <p:cNvSpPr txBox="1"/>
          <p:nvPr/>
        </p:nvSpPr>
        <p:spPr>
          <a:xfrm>
            <a:off x="787400" y="33782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5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配置与样例数据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DCB2CB2-1A84-E79B-7D14-7E8EEC5F8B96}"/>
              </a:ext>
            </a:extLst>
          </p:cNvPr>
          <p:cNvSpPr/>
          <p:nvPr/>
        </p:nvSpPr>
        <p:spPr>
          <a:xfrm>
            <a:off x="787400" y="3835400"/>
            <a:ext cx="28448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D8C85F-8C51-4457-74A6-206248D2177D}"/>
              </a:ext>
            </a:extLst>
          </p:cNvPr>
          <p:cNvSpPr/>
          <p:nvPr/>
        </p:nvSpPr>
        <p:spPr>
          <a:xfrm>
            <a:off x="787400" y="3835400"/>
            <a:ext cx="76200" cy="12065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A1E1004-2E9C-AFF8-FAF2-A345C23B2699}"/>
              </a:ext>
            </a:extLst>
          </p:cNvPr>
          <p:cNvSpPr txBox="1"/>
          <p:nvPr/>
        </p:nvSpPr>
        <p:spPr>
          <a:xfrm>
            <a:off x="990600" y="3962400"/>
            <a:ext cx="2489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config/ops-assist.conf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48CA97-9393-E1F2-A929-E01CE3FF5628}"/>
              </a:ext>
            </a:extLst>
          </p:cNvPr>
          <p:cNvSpPr txBox="1"/>
          <p:nvPr/>
        </p:nvSpPr>
        <p:spPr>
          <a:xfrm>
            <a:off x="990600" y="4381500"/>
            <a:ext cx="2489200" cy="175432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阈值：磁盘、内存、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
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监控项：服务列表、端口列表
报告格式：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markdown/html</a:t>
            </a:r>
            <a:endParaRPr lang="zh-CN" altLang="en-US" sz="10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1C53696-259E-8500-98D5-967BB00CF14B}"/>
              </a:ext>
            </a:extLst>
          </p:cNvPr>
          <p:cNvSpPr/>
          <p:nvPr/>
        </p:nvSpPr>
        <p:spPr>
          <a:xfrm>
            <a:off x="4191000" y="3835400"/>
            <a:ext cx="28448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60F3252-B2E7-F77B-A7DA-DA029F5C470A}"/>
              </a:ext>
            </a:extLst>
          </p:cNvPr>
          <p:cNvSpPr/>
          <p:nvPr/>
        </p:nvSpPr>
        <p:spPr>
          <a:xfrm>
            <a:off x="4191000" y="3835400"/>
            <a:ext cx="76200" cy="12065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5DC9941-FC5E-69C7-4EE2-A56A3446D3A7}"/>
              </a:ext>
            </a:extLst>
          </p:cNvPr>
          <p:cNvSpPr txBox="1"/>
          <p:nvPr/>
        </p:nvSpPr>
        <p:spPr>
          <a:xfrm>
            <a:off x="4394200" y="3962400"/>
            <a:ext cx="2489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samples/sample_logs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6F51A9-1CE1-5D81-29CC-3F70B02F070D}"/>
              </a:ext>
            </a:extLst>
          </p:cNvPr>
          <p:cNvSpPr txBox="1"/>
          <p:nvPr/>
        </p:nvSpPr>
        <p:spPr>
          <a:xfrm>
            <a:off x="4394200" y="4381500"/>
            <a:ext cx="24892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sudo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权限也可演示
包含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SSH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OOM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I/O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错误
用于日志分析验证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8D1255A-C66C-8D5F-71C7-645EDB075F8D}"/>
              </a:ext>
            </a:extLst>
          </p:cNvPr>
          <p:cNvSpPr/>
          <p:nvPr/>
        </p:nvSpPr>
        <p:spPr>
          <a:xfrm>
            <a:off x="7594600" y="3835400"/>
            <a:ext cx="28448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0051EB-B2D9-22EF-8C2B-24A3E2267F04}"/>
              </a:ext>
            </a:extLst>
          </p:cNvPr>
          <p:cNvSpPr/>
          <p:nvPr/>
        </p:nvSpPr>
        <p:spPr>
          <a:xfrm>
            <a:off x="7594600" y="3835400"/>
            <a:ext cx="76200" cy="1206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F0E58DE-0389-7889-9C36-EB133A3D49CB}"/>
              </a:ext>
            </a:extLst>
          </p:cNvPr>
          <p:cNvSpPr txBox="1"/>
          <p:nvPr/>
        </p:nvSpPr>
        <p:spPr>
          <a:xfrm>
            <a:off x="7797800" y="3962400"/>
            <a:ext cx="2489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logs/ + reports/</a:t>
            </a:r>
            <a:endParaRPr lang="zh-CN" altLang="en-US" sz="126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5DA19AB-B6D1-6ED3-F4C0-A3EABA02F0E5}"/>
              </a:ext>
            </a:extLst>
          </p:cNvPr>
          <p:cNvSpPr txBox="1"/>
          <p:nvPr/>
        </p:nvSpPr>
        <p:spPr>
          <a:xfrm>
            <a:off x="7797800" y="4381500"/>
            <a:ext cx="24892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保存中间结果
生成最终报告
便于归档与对比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00C6E31-C56F-CA56-A64C-150DD9B7B692}"/>
              </a:ext>
            </a:extLst>
          </p:cNvPr>
          <p:cNvSpPr txBox="1"/>
          <p:nvPr/>
        </p:nvSpPr>
        <p:spPr>
          <a:xfrm>
            <a:off x="1193800" y="5664200"/>
            <a:ext cx="990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13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设计原则：模块独立、命令可复用、异常有提示、输出可留档。</a:t>
            </a:r>
          </a:p>
        </p:txBody>
      </p:sp>
    </p:spTree>
    <p:extLst>
      <p:ext uri="{BB962C8B-B14F-4D97-AF65-F5344CB8AC3E}">
        <p14:creationId xmlns:p14="http://schemas.microsoft.com/office/powerpoint/2010/main" val="209413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43158E-F499-2C03-EB73-5B1DF5CB4153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 </a:t>
            </a:r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技术使用情况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ABCE82-AA17-DC5D-CDCA-AC736155A7FF}"/>
              </a:ext>
            </a:extLst>
          </p:cNvPr>
          <p:cNvSpPr txBox="1"/>
          <p:nvPr/>
        </p:nvSpPr>
        <p:spPr>
          <a:xfrm>
            <a:off x="9588500" y="393700"/>
            <a:ext cx="228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课程知识点落到项目代码里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2F6A335-7DC7-24CE-A750-26CF4A286DE8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A61CE11-70FF-B250-0E6F-9B3CAE9C6532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B3F4BE-518F-74AD-E932-F1B8A26F4F95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06BE03-AD7B-984D-39EC-016DC137CB32}"/>
              </a:ext>
            </a:extLst>
          </p:cNvPr>
          <p:cNvSpPr/>
          <p:nvPr/>
        </p:nvSpPr>
        <p:spPr>
          <a:xfrm>
            <a:off x="660400" y="1193800"/>
            <a:ext cx="10871200" cy="5207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80B9BE-9E7F-09F1-22C0-7563C6DA0779}"/>
              </a:ext>
            </a:extLst>
          </p:cNvPr>
          <p:cNvSpPr txBox="1"/>
          <p:nvPr/>
        </p:nvSpPr>
        <p:spPr>
          <a:xfrm>
            <a:off x="812800" y="1346200"/>
            <a:ext cx="152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8BE7BE-04DF-9004-8D7E-BB7F6E0A4032}"/>
              </a:ext>
            </a:extLst>
          </p:cNvPr>
          <p:cNvSpPr txBox="1"/>
          <p:nvPr/>
        </p:nvSpPr>
        <p:spPr>
          <a:xfrm>
            <a:off x="2654300" y="1346200"/>
            <a:ext cx="228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使用位置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AD2A5B-BE93-C5AC-52D4-4219F35972B4}"/>
              </a:ext>
            </a:extLst>
          </p:cNvPr>
          <p:cNvSpPr txBox="1"/>
          <p:nvPr/>
        </p:nvSpPr>
        <p:spPr>
          <a:xfrm>
            <a:off x="6083300" y="1346200"/>
            <a:ext cx="330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82FA93-4A4A-F67E-AD1C-B28803C69201}"/>
              </a:ext>
            </a:extLst>
          </p:cNvPr>
          <p:cNvSpPr/>
          <p:nvPr/>
        </p:nvSpPr>
        <p:spPr>
          <a:xfrm>
            <a:off x="660400" y="1714500"/>
            <a:ext cx="10871200" cy="520700"/>
          </a:xfrm>
          <a:prstGeom prst="rect">
            <a:avLst/>
          </a:prstGeom>
          <a:solidFill>
            <a:srgbClr val="F9FBFD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36AE34-A93D-1595-6D1A-02BA63215C09}"/>
              </a:ext>
            </a:extLst>
          </p:cNvPr>
          <p:cNvSpPr txBox="1"/>
          <p:nvPr/>
        </p:nvSpPr>
        <p:spPr>
          <a:xfrm>
            <a:off x="812800" y="18415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Bash </a:t>
            </a:r>
            <a:r>
              <a:rPr lang="zh-CN" altLang="en-US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BB0CB1-E48E-04A1-DA43-572E2DA94CDA}"/>
              </a:ext>
            </a:extLst>
          </p:cNvPr>
          <p:cNvSpPr txBox="1"/>
          <p:nvPr/>
        </p:nvSpPr>
        <p:spPr>
          <a:xfrm>
            <a:off x="2654300" y="18415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/ modules/*.sh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B882FE-83CF-1E8B-70EC-7C6FE0EA9726}"/>
              </a:ext>
            </a:extLst>
          </p:cNvPr>
          <p:cNvSpPr txBox="1"/>
          <p:nvPr/>
        </p:nvSpPr>
        <p:spPr>
          <a:xfrm>
            <a:off x="6083300" y="18415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命令入口、流程控制、错误处理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27F52E-3837-D8D2-D0C5-369BA2A34AD3}"/>
              </a:ext>
            </a:extLst>
          </p:cNvPr>
          <p:cNvSpPr/>
          <p:nvPr/>
        </p:nvSpPr>
        <p:spPr>
          <a:xfrm>
            <a:off x="660400" y="2235200"/>
            <a:ext cx="10871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5591D1-90EB-9058-B062-10DD30720184}"/>
              </a:ext>
            </a:extLst>
          </p:cNvPr>
          <p:cNvSpPr txBox="1"/>
          <p:nvPr/>
        </p:nvSpPr>
        <p:spPr>
          <a:xfrm>
            <a:off x="812800" y="23622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系统命令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377EF5-FEC2-2729-4668-F1C0FFB6638C}"/>
              </a:ext>
            </a:extLst>
          </p:cNvPr>
          <p:cNvSpPr txBox="1"/>
          <p:nvPr/>
        </p:nvSpPr>
        <p:spPr>
          <a:xfrm>
            <a:off x="2654300" y="23622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 / ps / ss / systemctl / nproc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483340-1407-2B6E-52C7-3FF765E484DB}"/>
              </a:ext>
            </a:extLst>
          </p:cNvPr>
          <p:cNvSpPr txBox="1"/>
          <p:nvPr/>
        </p:nvSpPr>
        <p:spPr>
          <a:xfrm>
            <a:off x="6083300" y="23622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采集磁盘、进程、端口、服务状态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76A1EE-B45F-B605-1487-70C766267B7B}"/>
              </a:ext>
            </a:extLst>
          </p:cNvPr>
          <p:cNvSpPr/>
          <p:nvPr/>
        </p:nvSpPr>
        <p:spPr>
          <a:xfrm>
            <a:off x="660400" y="2755900"/>
            <a:ext cx="10871200" cy="520700"/>
          </a:xfrm>
          <a:prstGeom prst="rect">
            <a:avLst/>
          </a:prstGeom>
          <a:solidFill>
            <a:srgbClr val="F9FBFD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284C43-8F77-D66A-26CA-E23C9D87E965}"/>
              </a:ext>
            </a:extLst>
          </p:cNvPr>
          <p:cNvSpPr txBox="1"/>
          <p:nvPr/>
        </p:nvSpPr>
        <p:spPr>
          <a:xfrm>
            <a:off x="812800" y="28829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grep/sed/awk</a:t>
            </a:r>
            <a:endParaRPr lang="zh-CN" altLang="en-US" sz="920" b="1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5F5FD2-03B0-55D3-1CE2-7453F8B05F70}"/>
              </a:ext>
            </a:extLst>
          </p:cNvPr>
          <p:cNvSpPr txBox="1"/>
          <p:nvPr/>
        </p:nvSpPr>
        <p:spPr>
          <a:xfrm>
            <a:off x="2654300" y="28829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log_analyzer.sh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B01CD7-0946-25A4-93E4-9923C36D392A}"/>
              </a:ext>
            </a:extLst>
          </p:cNvPr>
          <p:cNvSpPr txBox="1"/>
          <p:nvPr/>
        </p:nvSpPr>
        <p:spPr>
          <a:xfrm>
            <a:off x="6083300" y="28829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日志过滤、字段提取、异常统计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C75D5F-169A-968C-2759-10A72BE4CE98}"/>
              </a:ext>
            </a:extLst>
          </p:cNvPr>
          <p:cNvSpPr/>
          <p:nvPr/>
        </p:nvSpPr>
        <p:spPr>
          <a:xfrm>
            <a:off x="660400" y="3276600"/>
            <a:ext cx="10871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17033E5-7039-935A-929D-DDD3CC0F1664}"/>
              </a:ext>
            </a:extLst>
          </p:cNvPr>
          <p:cNvSpPr txBox="1"/>
          <p:nvPr/>
        </p:nvSpPr>
        <p:spPr>
          <a:xfrm>
            <a:off x="812800" y="34036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管道与重定向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E933E0-6753-8DE4-05AC-BCC4ACD9872D}"/>
              </a:ext>
            </a:extLst>
          </p:cNvPr>
          <p:cNvSpPr txBox="1"/>
          <p:nvPr/>
        </p:nvSpPr>
        <p:spPr>
          <a:xfrm>
            <a:off x="2654300" y="34036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模块输出 </a:t>
            </a:r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logs/*.log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CF75E8-CA88-EE29-A779-57BE0533186C}"/>
              </a:ext>
            </a:extLst>
          </p:cNvPr>
          <p:cNvSpPr txBox="1"/>
          <p:nvPr/>
        </p:nvSpPr>
        <p:spPr>
          <a:xfrm>
            <a:off x="6083300" y="34036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保存中间结果并串联 </a:t>
            </a:r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45CC41-2746-7E7A-EC0A-ABD4194CC717}"/>
              </a:ext>
            </a:extLst>
          </p:cNvPr>
          <p:cNvSpPr/>
          <p:nvPr/>
        </p:nvSpPr>
        <p:spPr>
          <a:xfrm>
            <a:off x="660400" y="3797300"/>
            <a:ext cx="10871200" cy="520700"/>
          </a:xfrm>
          <a:prstGeom prst="rect">
            <a:avLst/>
          </a:prstGeom>
          <a:solidFill>
            <a:srgbClr val="F9FBFD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D849D4-4B44-5F92-333D-183D5DB2935C}"/>
              </a:ext>
            </a:extLst>
          </p:cNvPr>
          <p:cNvSpPr txBox="1"/>
          <p:nvPr/>
        </p:nvSpPr>
        <p:spPr>
          <a:xfrm>
            <a:off x="812800" y="39243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</a:t>
            </a:r>
            <a:endParaRPr lang="zh-CN" altLang="en-US" sz="920" b="1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B9399FC-0FAF-4CDC-1C55-47E23E9BA630}"/>
              </a:ext>
            </a:extLst>
          </p:cNvPr>
          <p:cNvSpPr txBox="1"/>
          <p:nvPr/>
        </p:nvSpPr>
        <p:spPr>
          <a:xfrm>
            <a:off x="2654300" y="39243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scripts/setup_cron.sh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8DE0B5B-62F5-6B11-B4D1-FA997BA7C541}"/>
              </a:ext>
            </a:extLst>
          </p:cNvPr>
          <p:cNvSpPr txBox="1"/>
          <p:nvPr/>
        </p:nvSpPr>
        <p:spPr>
          <a:xfrm>
            <a:off x="6083300" y="39243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每日</a:t>
            </a:r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每小时无人值守巡检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2E22B6-6119-CAC1-2262-1A5E6AD72BE3}"/>
              </a:ext>
            </a:extLst>
          </p:cNvPr>
          <p:cNvSpPr/>
          <p:nvPr/>
        </p:nvSpPr>
        <p:spPr>
          <a:xfrm>
            <a:off x="660400" y="4318000"/>
            <a:ext cx="10871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9BFA0A-9CF4-95ED-3963-A300F32EB3E2}"/>
              </a:ext>
            </a:extLst>
          </p:cNvPr>
          <p:cNvSpPr txBox="1"/>
          <p:nvPr/>
        </p:nvSpPr>
        <p:spPr>
          <a:xfrm>
            <a:off x="812800" y="44450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endParaRPr lang="zh-CN" altLang="en-US" sz="920" b="1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63ED31B-3E2B-EFFD-A025-42BFCC5F1537}"/>
              </a:ext>
            </a:extLst>
          </p:cNvPr>
          <p:cNvSpPr txBox="1"/>
          <p:nvPr/>
        </p:nvSpPr>
        <p:spPr>
          <a:xfrm>
            <a:off x="2654300" y="44450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diagnose.py / report.py</a:t>
            </a:r>
            <a:endParaRPr lang="zh-CN" altLang="en-US" sz="9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7B8D01-17DB-948C-A088-92AE8F17D246}"/>
              </a:ext>
            </a:extLst>
          </p:cNvPr>
          <p:cNvSpPr txBox="1"/>
          <p:nvPr/>
        </p:nvSpPr>
        <p:spPr>
          <a:xfrm>
            <a:off x="6083300" y="44450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规则诊断与 </a:t>
            </a:r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Markdown/HTML </a:t>
            </a:r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报告生成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5898676-FDC8-6679-E732-481E5BC38FF4}"/>
              </a:ext>
            </a:extLst>
          </p:cNvPr>
          <p:cNvSpPr/>
          <p:nvPr/>
        </p:nvSpPr>
        <p:spPr>
          <a:xfrm>
            <a:off x="660400" y="4838700"/>
            <a:ext cx="10871200" cy="520700"/>
          </a:xfrm>
          <a:prstGeom prst="rect">
            <a:avLst/>
          </a:prstGeom>
          <a:solidFill>
            <a:srgbClr val="F9FBFD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2A9582E-DF32-AAA8-3BA8-7E17DA37CBB5}"/>
              </a:ext>
            </a:extLst>
          </p:cNvPr>
          <p:cNvSpPr txBox="1"/>
          <p:nvPr/>
        </p:nvSpPr>
        <p:spPr>
          <a:xfrm>
            <a:off x="812800" y="4965700"/>
            <a:ext cx="158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 b="1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endParaRPr lang="zh-CN" altLang="en-US" sz="920" b="1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15FEAA3-7618-62F5-0358-CCA4E530B5C3}"/>
              </a:ext>
            </a:extLst>
          </p:cNvPr>
          <p:cNvSpPr txBox="1"/>
          <p:nvPr/>
        </p:nvSpPr>
        <p:spPr>
          <a:xfrm>
            <a:off x="2654300" y="4965700"/>
            <a:ext cx="317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次提交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194EE22-9007-D481-53F6-48F016AE64B3}"/>
              </a:ext>
            </a:extLst>
          </p:cNvPr>
          <p:cNvSpPr txBox="1"/>
          <p:nvPr/>
        </p:nvSpPr>
        <p:spPr>
          <a:xfrm>
            <a:off x="6083300" y="4965700"/>
            <a:ext cx="520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记录需求、模块、联调、</a:t>
            </a:r>
            <a:r>
              <a:rPr lang="en-US" altLang="zh-CN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Bug </a:t>
            </a:r>
            <a:r>
              <a:rPr lang="zh-CN" altLang="en-US" sz="9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修复过程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03E5A25-27B9-C5DF-87DC-FDE366EFB84E}"/>
              </a:ext>
            </a:extLst>
          </p:cNvPr>
          <p:cNvSpPr txBox="1"/>
          <p:nvPr/>
        </p:nvSpPr>
        <p:spPr>
          <a:xfrm>
            <a:off x="787400" y="5905500"/>
            <a:ext cx="1003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满足要求：项目实际体现 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种以上 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 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课程相关技术，并能通过命令现场演示。</a:t>
            </a:r>
          </a:p>
        </p:txBody>
      </p:sp>
    </p:spTree>
    <p:extLst>
      <p:ext uri="{BB962C8B-B14F-4D97-AF65-F5344CB8AC3E}">
        <p14:creationId xmlns:p14="http://schemas.microsoft.com/office/powerpoint/2010/main" val="351273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F6F340-9541-89AD-1D50-FD2F29D4FA82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核心功能展示：一键巡检生成报告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4E4C8-AAD9-1C72-3488-31336F390C46}"/>
              </a:ext>
            </a:extLst>
          </p:cNvPr>
          <p:cNvSpPr txBox="1"/>
          <p:nvPr/>
        </p:nvSpPr>
        <p:spPr>
          <a:xfrm>
            <a:off x="9588500" y="393700"/>
            <a:ext cx="228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现场演示的主线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51CB6E-5D9B-DBCC-E8C5-E057F2F49F9B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1BBBC04-AF17-C850-607D-161C5357CBD7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C7075A-51EC-C7C7-EB6F-3268DA119906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518FFA-054E-2C83-79A1-B600CD2E123D}"/>
              </a:ext>
            </a:extLst>
          </p:cNvPr>
          <p:cNvSpPr/>
          <p:nvPr/>
        </p:nvSpPr>
        <p:spPr>
          <a:xfrm>
            <a:off x="660400" y="1219200"/>
            <a:ext cx="4889500" cy="447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1DB5BC-A5FA-6D3B-E4A8-36B9ED45BEF6}"/>
              </a:ext>
            </a:extLst>
          </p:cNvPr>
          <p:cNvSpPr txBox="1"/>
          <p:nvPr/>
        </p:nvSpPr>
        <p:spPr>
          <a:xfrm>
            <a:off x="838200" y="1346200"/>
            <a:ext cx="4533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850">
                <a:solidFill>
                  <a:srgbClr val="93C5FD"/>
                </a:solidFill>
                <a:latin typeface="Consolas" panose="020B0609020204030204" pitchFamily="49" charset="0"/>
              </a:rPr>
              <a:t>完整流程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616058-23D2-01B1-B92C-D268668A1D83}"/>
              </a:ext>
            </a:extLst>
          </p:cNvPr>
          <p:cNvSpPr txBox="1"/>
          <p:nvPr/>
        </p:nvSpPr>
        <p:spPr>
          <a:xfrm>
            <a:off x="838200" y="1651000"/>
            <a:ext cx="4533900" cy="203132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$ ./ops-assist all
[1/4]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执行系统状态巡检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[2/4]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执行日志异常分析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[3/4]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生成诊断建议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[4/4]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生成巡检报告
报告已保存至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:
reports/report_20260606_151835.md</a:t>
            </a:r>
            <a:endParaRPr lang="zh-CN" altLang="en-US" sz="840">
              <a:solidFill>
                <a:srgbClr val="E5E7EB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39C2F64-6215-02F4-87FF-D2A83C770819}"/>
              </a:ext>
            </a:extLst>
          </p:cNvPr>
          <p:cNvSpPr/>
          <p:nvPr/>
        </p:nvSpPr>
        <p:spPr>
          <a:xfrm>
            <a:off x="5905500" y="1219200"/>
            <a:ext cx="53086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717D19-481E-C5A7-BF78-65E13545F891}"/>
              </a:ext>
            </a:extLst>
          </p:cNvPr>
          <p:cNvSpPr/>
          <p:nvPr/>
        </p:nvSpPr>
        <p:spPr>
          <a:xfrm>
            <a:off x="5905500" y="1219200"/>
            <a:ext cx="76200" cy="9652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D19F0A-099C-494D-60BA-4663F8736254}"/>
              </a:ext>
            </a:extLst>
          </p:cNvPr>
          <p:cNvSpPr txBox="1"/>
          <p:nvPr/>
        </p:nvSpPr>
        <p:spPr>
          <a:xfrm>
            <a:off x="6108700" y="1346200"/>
            <a:ext cx="495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系统巡检结果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0384CE-E139-EC83-E701-EF5EC349C63A}"/>
              </a:ext>
            </a:extLst>
          </p:cNvPr>
          <p:cNvSpPr txBox="1"/>
          <p:nvPr/>
        </p:nvSpPr>
        <p:spPr>
          <a:xfrm>
            <a:off x="6108700" y="1765300"/>
            <a:ext cx="495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磁盘：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/: 373G/931G (41%)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/d: 1.2T/1.9T (60%)
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端口：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 / 80 / 443 / 3306 / 8080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未监听并标记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WARN</a:t>
            </a:r>
            <a:endParaRPr lang="zh-CN" altLang="en-US" sz="102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64294AC-5406-C701-699B-532DCD493A60}"/>
              </a:ext>
            </a:extLst>
          </p:cNvPr>
          <p:cNvSpPr/>
          <p:nvPr/>
        </p:nvSpPr>
        <p:spPr>
          <a:xfrm>
            <a:off x="5905500" y="2501900"/>
            <a:ext cx="53086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57446B-857D-64A0-8769-C04EE1F3B42F}"/>
              </a:ext>
            </a:extLst>
          </p:cNvPr>
          <p:cNvSpPr/>
          <p:nvPr/>
        </p:nvSpPr>
        <p:spPr>
          <a:xfrm>
            <a:off x="5905500" y="2501900"/>
            <a:ext cx="76200" cy="965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765C5B7-8B6C-CB87-B7C6-2E2469DBC15C}"/>
              </a:ext>
            </a:extLst>
          </p:cNvPr>
          <p:cNvSpPr txBox="1"/>
          <p:nvPr/>
        </p:nvSpPr>
        <p:spPr>
          <a:xfrm>
            <a:off x="6108700" y="2628900"/>
            <a:ext cx="495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日志分析结果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F55A6C-F352-47DC-C6D0-3D03C5E89FD3}"/>
              </a:ext>
            </a:extLst>
          </p:cNvPr>
          <p:cNvSpPr txBox="1"/>
          <p:nvPr/>
        </p:nvSpPr>
        <p:spPr>
          <a:xfrm>
            <a:off x="6108700" y="3048000"/>
            <a:ext cx="495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样例日志：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行；异常事件：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
检测：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SSH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OOM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I/O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错误、服务崩溃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28AE08B-0C8A-BE6D-D328-F3AA7DE931D5}"/>
              </a:ext>
            </a:extLst>
          </p:cNvPr>
          <p:cNvSpPr/>
          <p:nvPr/>
        </p:nvSpPr>
        <p:spPr>
          <a:xfrm>
            <a:off x="5905500" y="3784600"/>
            <a:ext cx="53086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8B002F-6E20-7A0E-A952-CF71C9740845}"/>
              </a:ext>
            </a:extLst>
          </p:cNvPr>
          <p:cNvSpPr/>
          <p:nvPr/>
        </p:nvSpPr>
        <p:spPr>
          <a:xfrm>
            <a:off x="5905500" y="3784600"/>
            <a:ext cx="76200" cy="965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63B4CA-E93E-57CB-558E-AF33AAC689BD}"/>
              </a:ext>
            </a:extLst>
          </p:cNvPr>
          <p:cNvSpPr txBox="1"/>
          <p:nvPr/>
        </p:nvSpPr>
        <p:spPr>
          <a:xfrm>
            <a:off x="6108700" y="3911600"/>
            <a:ext cx="495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诊断建议结果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E48776-5E8F-16E4-7E55-662AC96D54DF}"/>
              </a:ext>
            </a:extLst>
          </p:cNvPr>
          <p:cNvSpPr txBox="1"/>
          <p:nvPr/>
        </p:nvSpPr>
        <p:spPr>
          <a:xfrm>
            <a:off x="6108700" y="4330700"/>
            <a:ext cx="495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端口未监听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systemctl /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netstat /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防火墙
报告最终汇总为 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，便于提交和归档。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ABA523-204C-6269-65AC-E1ECECC6E8D2}"/>
              </a:ext>
            </a:extLst>
          </p:cNvPr>
          <p:cNvSpPr txBox="1"/>
          <p:nvPr/>
        </p:nvSpPr>
        <p:spPr>
          <a:xfrm>
            <a:off x="5994400" y="5257800"/>
            <a:ext cx="5080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演示时只讲 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1-2 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个重点：完整流程能跑通；异常能被自动标记；报告能保存。</a:t>
            </a:r>
          </a:p>
        </p:txBody>
      </p:sp>
    </p:spTree>
    <p:extLst>
      <p:ext uri="{BB962C8B-B14F-4D97-AF65-F5344CB8AC3E}">
        <p14:creationId xmlns:p14="http://schemas.microsoft.com/office/powerpoint/2010/main" val="163487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C7DD0B-983D-7C8A-2F5D-5A327E39057C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测试与验证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848971-80AC-B626-F716-EAF7D55931D6}"/>
              </a:ext>
            </a:extLst>
          </p:cNvPr>
          <p:cNvSpPr txBox="1"/>
          <p:nvPr/>
        </p:nvSpPr>
        <p:spPr>
          <a:xfrm>
            <a:off x="9588500" y="393700"/>
            <a:ext cx="228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功能测试 </a:t>
            </a:r>
            <a:r>
              <a:rPr lang="en-US" altLang="zh-CN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异常场景 </a:t>
            </a:r>
            <a:r>
              <a:rPr lang="en-US" altLang="zh-CN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自动化验证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F384222-EE7D-FECF-D130-247CB7794995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52146BD-C1EE-F2A0-E35D-E8BF99BFA9DF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D8EC75-CC59-7CD6-E586-CC6220855CA9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46C863D-457A-1768-74F2-6A7A9751987F}"/>
              </a:ext>
            </a:extLst>
          </p:cNvPr>
          <p:cNvSpPr/>
          <p:nvPr/>
        </p:nvSpPr>
        <p:spPr>
          <a:xfrm>
            <a:off x="660400" y="1168400"/>
            <a:ext cx="5257800" cy="4241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C7F173-ED1C-5BAC-A040-FEA598E83FA5}"/>
              </a:ext>
            </a:extLst>
          </p:cNvPr>
          <p:cNvSpPr txBox="1"/>
          <p:nvPr/>
        </p:nvSpPr>
        <p:spPr>
          <a:xfrm>
            <a:off x="838200" y="1295400"/>
            <a:ext cx="4902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850">
                <a:solidFill>
                  <a:srgbClr val="93C5FD"/>
                </a:solidFill>
                <a:latin typeface="Consolas" panose="020B0609020204030204" pitchFamily="49" charset="0"/>
              </a:rPr>
              <a:t>测试输出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D5158E-5B0B-8CBB-7EE2-1F6E806EA793}"/>
              </a:ext>
            </a:extLst>
          </p:cNvPr>
          <p:cNvSpPr txBox="1"/>
          <p:nvPr/>
        </p:nvSpPr>
        <p:spPr>
          <a:xfrm>
            <a:off x="838200" y="1600200"/>
            <a:ext cx="4902200" cy="203132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$ bash tests/test_workflow.sh
[PASS]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主脚本存在且可执行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[PASS] help / version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正常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[PASS] check / log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模块可运行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[PASS] diagnose / report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可运行
测试结果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: 11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, 0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失败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8E12E7-A71F-EC9D-F234-0BA5928F92A1}"/>
              </a:ext>
            </a:extLst>
          </p:cNvPr>
          <p:cNvSpPr/>
          <p:nvPr/>
        </p:nvSpPr>
        <p:spPr>
          <a:xfrm>
            <a:off x="6248400" y="1168400"/>
            <a:ext cx="26035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11B7F4-4D56-E986-701A-146935EAC443}"/>
              </a:ext>
            </a:extLst>
          </p:cNvPr>
          <p:cNvSpPr/>
          <p:nvPr/>
        </p:nvSpPr>
        <p:spPr>
          <a:xfrm>
            <a:off x="6248400" y="1168400"/>
            <a:ext cx="76200" cy="11684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6ACE0D-AD3A-EEB5-67C6-6A5405B2218D}"/>
              </a:ext>
            </a:extLst>
          </p:cNvPr>
          <p:cNvSpPr txBox="1"/>
          <p:nvPr/>
        </p:nvSpPr>
        <p:spPr>
          <a:xfrm>
            <a:off x="6451600" y="1295400"/>
            <a:ext cx="224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功能测试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77CDA7-3DF7-61EA-D407-AD45E1F8042B}"/>
              </a:ext>
            </a:extLst>
          </p:cNvPr>
          <p:cNvSpPr txBox="1"/>
          <p:nvPr/>
        </p:nvSpPr>
        <p:spPr>
          <a:xfrm>
            <a:off x="6451600" y="1714500"/>
            <a:ext cx="22479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项自动化测试
覆盖入口、模块、报告生成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8F1E962-49BF-1285-D6A4-96B7047574B5}"/>
              </a:ext>
            </a:extLst>
          </p:cNvPr>
          <p:cNvSpPr/>
          <p:nvPr/>
        </p:nvSpPr>
        <p:spPr>
          <a:xfrm>
            <a:off x="9093200" y="1168400"/>
            <a:ext cx="2413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EDB387-A90C-5392-DA09-22E475FDDDA4}"/>
              </a:ext>
            </a:extLst>
          </p:cNvPr>
          <p:cNvSpPr/>
          <p:nvPr/>
        </p:nvSpPr>
        <p:spPr>
          <a:xfrm>
            <a:off x="9093200" y="1168400"/>
            <a:ext cx="76200" cy="11684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87E11C-0D47-27AB-32F9-1C2BA20C30E7}"/>
              </a:ext>
            </a:extLst>
          </p:cNvPr>
          <p:cNvSpPr txBox="1"/>
          <p:nvPr/>
        </p:nvSpPr>
        <p:spPr>
          <a:xfrm>
            <a:off x="9296400" y="1295400"/>
            <a:ext cx="2057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异常测试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B809BA-67D1-1643-6565-6645BC4F3AB9}"/>
              </a:ext>
            </a:extLst>
          </p:cNvPr>
          <p:cNvSpPr txBox="1"/>
          <p:nvPr/>
        </p:nvSpPr>
        <p:spPr>
          <a:xfrm>
            <a:off x="9296400" y="1714500"/>
            <a:ext cx="20574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日志文件不存在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权限不足
服务不存在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端口未监听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B515BD2-A9E3-3ADE-6496-DE1DC4EE89D7}"/>
              </a:ext>
            </a:extLst>
          </p:cNvPr>
          <p:cNvSpPr/>
          <p:nvPr/>
        </p:nvSpPr>
        <p:spPr>
          <a:xfrm>
            <a:off x="6248400" y="2794000"/>
            <a:ext cx="26035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B18B0A-45CC-4824-B8FF-15B4D6F013B4}"/>
              </a:ext>
            </a:extLst>
          </p:cNvPr>
          <p:cNvSpPr/>
          <p:nvPr/>
        </p:nvSpPr>
        <p:spPr>
          <a:xfrm>
            <a:off x="6248400" y="2794000"/>
            <a:ext cx="76200" cy="1168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347DE1-E8E3-BE62-7E4D-640620B20500}"/>
              </a:ext>
            </a:extLst>
          </p:cNvPr>
          <p:cNvSpPr txBox="1"/>
          <p:nvPr/>
        </p:nvSpPr>
        <p:spPr>
          <a:xfrm>
            <a:off x="6451600" y="2921000"/>
            <a:ext cx="224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边界测试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3F5BC1-A1E0-EC6B-9EE8-95A2BC7CE1B2}"/>
              </a:ext>
            </a:extLst>
          </p:cNvPr>
          <p:cNvSpPr txBox="1"/>
          <p:nvPr/>
        </p:nvSpPr>
        <p:spPr>
          <a:xfrm>
            <a:off x="6451600" y="3340100"/>
            <a:ext cx="22479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样例日志集中异常
多关键词统计与上下文提取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406A620-22BC-D131-DED5-792197368FBF}"/>
              </a:ext>
            </a:extLst>
          </p:cNvPr>
          <p:cNvSpPr/>
          <p:nvPr/>
        </p:nvSpPr>
        <p:spPr>
          <a:xfrm>
            <a:off x="9093200" y="2794000"/>
            <a:ext cx="2413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82AEA8-92BB-53D1-91F2-7F3B1E73A540}"/>
              </a:ext>
            </a:extLst>
          </p:cNvPr>
          <p:cNvSpPr/>
          <p:nvPr/>
        </p:nvSpPr>
        <p:spPr>
          <a:xfrm>
            <a:off x="9093200" y="2794000"/>
            <a:ext cx="76200" cy="11684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691F0F-4CB1-A231-8AF6-4DA225935797}"/>
              </a:ext>
            </a:extLst>
          </p:cNvPr>
          <p:cNvSpPr txBox="1"/>
          <p:nvPr/>
        </p:nvSpPr>
        <p:spPr>
          <a:xfrm>
            <a:off x="9296400" y="2921000"/>
            <a:ext cx="2057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自动化运行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2BC40F-D0F3-79F7-A21F-68642030F534}"/>
              </a:ext>
            </a:extLst>
          </p:cNvPr>
          <p:cNvSpPr txBox="1"/>
          <p:nvPr/>
        </p:nvSpPr>
        <p:spPr>
          <a:xfrm>
            <a:off x="9296400" y="3340100"/>
            <a:ext cx="20574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 install/status/uninstall
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报告连续生成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6B322D5-E882-D0F0-357F-84E3D2B1B0B8}"/>
              </a:ext>
            </a:extLst>
          </p:cNvPr>
          <p:cNvSpPr/>
          <p:nvPr/>
        </p:nvSpPr>
        <p:spPr>
          <a:xfrm>
            <a:off x="6248400" y="4572000"/>
            <a:ext cx="5257800" cy="8382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B6D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37E4C8-2ACC-FD36-7927-722FDAF2CFED}"/>
              </a:ext>
            </a:extLst>
          </p:cNvPr>
          <p:cNvSpPr txBox="1"/>
          <p:nvPr/>
        </p:nvSpPr>
        <p:spPr>
          <a:xfrm>
            <a:off x="6502400" y="4724400"/>
            <a:ext cx="266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答辩可说的真实调试问题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6DCF9AE-658A-66CB-801B-B3C30F14F3CD}"/>
              </a:ext>
            </a:extLst>
          </p:cNvPr>
          <p:cNvSpPr txBox="1"/>
          <p:nvPr/>
        </p:nvSpPr>
        <p:spPr>
          <a:xfrm>
            <a:off x="6502400" y="5054600"/>
            <a:ext cx="45212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Windows/Git Bash </a:t>
            </a:r>
            <a:r>
              <a:rPr lang="zh-CN" altLang="en-US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路径和 </a:t>
            </a:r>
            <a:r>
              <a:rPr lang="en-US" altLang="zh-CN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 </a:t>
            </a:r>
            <a:r>
              <a:rPr lang="zh-CN" altLang="en-US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输出格式差异；完整流程日志输入选择；诊断规则误报。已通过 </a:t>
            </a:r>
            <a:r>
              <a:rPr lang="en-US" altLang="zh-CN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提交修复。</a:t>
            </a:r>
          </a:p>
        </p:txBody>
      </p:sp>
    </p:spTree>
    <p:extLst>
      <p:ext uri="{BB962C8B-B14F-4D97-AF65-F5344CB8AC3E}">
        <p14:creationId xmlns:p14="http://schemas.microsoft.com/office/powerpoint/2010/main" val="318554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0966BD-0C13-DB88-388C-E7C01CF2EC63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开发过程与版本迭代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B73FAA-FF58-0F29-9A4E-F33BEA9AD0B7}"/>
              </a:ext>
            </a:extLst>
          </p:cNvPr>
          <p:cNvSpPr txBox="1"/>
          <p:nvPr/>
        </p:nvSpPr>
        <p:spPr>
          <a:xfrm>
            <a:off x="9588500" y="393700"/>
            <a:ext cx="228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记录证明项目不是最后一次性完成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D72EB21-23D2-496E-20B1-9AF5A889F64B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1CBE1DE-0AD7-2ED2-B06B-43971C8A921A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941DA3-1749-E795-9D07-0779B6A619EE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364F583-C4E3-A73C-FB37-ABCEF538C42A}"/>
              </a:ext>
            </a:extLst>
          </p:cNvPr>
          <p:cNvCxnSpPr/>
          <p:nvPr/>
        </p:nvCxnSpPr>
        <p:spPr>
          <a:xfrm>
            <a:off x="965200" y="1879600"/>
            <a:ext cx="10109200" cy="0"/>
          </a:xfrm>
          <a:prstGeom prst="line">
            <a:avLst/>
          </a:prstGeom>
          <a:ln w="1651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2FA31397-82E3-6983-AB4C-E68D3EA8855D}"/>
              </a:ext>
            </a:extLst>
          </p:cNvPr>
          <p:cNvSpPr/>
          <p:nvPr/>
        </p:nvSpPr>
        <p:spPr>
          <a:xfrm>
            <a:off x="8890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A01249-BACF-C1CF-598C-1B0E2B156E54}"/>
              </a:ext>
            </a:extLst>
          </p:cNvPr>
          <p:cNvSpPr txBox="1"/>
          <p:nvPr/>
        </p:nvSpPr>
        <p:spPr>
          <a:xfrm>
            <a:off x="6096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v0.1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8B53CB-B658-5F9C-F4C8-FBB29485F9B3}"/>
              </a:ext>
            </a:extLst>
          </p:cNvPr>
          <p:cNvSpPr txBox="1"/>
          <p:nvPr/>
        </p:nvSpPr>
        <p:spPr>
          <a:xfrm>
            <a:off x="393700" y="2565400"/>
            <a:ext cx="114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主入口与参数分发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5CABDB-40CE-E940-F224-5CF9FFD5F4FA}"/>
              </a:ext>
            </a:extLst>
          </p:cNvPr>
          <p:cNvSpPr txBox="1"/>
          <p:nvPr/>
        </p:nvSpPr>
        <p:spPr>
          <a:xfrm>
            <a:off x="6096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3f1ae5f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EA1D819-7B1A-FB8E-83C4-5930D2496D93}"/>
              </a:ext>
            </a:extLst>
          </p:cNvPr>
          <p:cNvSpPr/>
          <p:nvPr/>
        </p:nvSpPr>
        <p:spPr>
          <a:xfrm>
            <a:off x="23368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8160D5-DB26-378E-B2A9-E9C9CAD78015}"/>
              </a:ext>
            </a:extLst>
          </p:cNvPr>
          <p:cNvSpPr txBox="1"/>
          <p:nvPr/>
        </p:nvSpPr>
        <p:spPr>
          <a:xfrm>
            <a:off x="20574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v0.2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788FE5-C18A-91FD-DB55-BE4B39521A74}"/>
              </a:ext>
            </a:extLst>
          </p:cNvPr>
          <p:cNvSpPr txBox="1"/>
          <p:nvPr/>
        </p:nvSpPr>
        <p:spPr>
          <a:xfrm>
            <a:off x="1841500" y="2565400"/>
            <a:ext cx="114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系统状态巡检模块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E74497-C1FF-E7DA-6979-ECCDE19CFB0D}"/>
              </a:ext>
            </a:extLst>
          </p:cNvPr>
          <p:cNvSpPr txBox="1"/>
          <p:nvPr/>
        </p:nvSpPr>
        <p:spPr>
          <a:xfrm>
            <a:off x="20574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961420c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5312F0A-0B89-657E-32DF-3B26C909301E}"/>
              </a:ext>
            </a:extLst>
          </p:cNvPr>
          <p:cNvSpPr/>
          <p:nvPr/>
        </p:nvSpPr>
        <p:spPr>
          <a:xfrm>
            <a:off x="37846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C9244D-B53B-FB5D-B5D8-F73074D5AEB4}"/>
              </a:ext>
            </a:extLst>
          </p:cNvPr>
          <p:cNvSpPr txBox="1"/>
          <p:nvPr/>
        </p:nvSpPr>
        <p:spPr>
          <a:xfrm>
            <a:off x="35052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v0.3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E39EF1-439A-5166-36F7-E6CEB83F2437}"/>
              </a:ext>
            </a:extLst>
          </p:cNvPr>
          <p:cNvSpPr txBox="1"/>
          <p:nvPr/>
        </p:nvSpPr>
        <p:spPr>
          <a:xfrm>
            <a:off x="3289300" y="2565400"/>
            <a:ext cx="114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日志异常分析模块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CBF269-7CE3-8EAF-F1D4-2D3B32A41FFB}"/>
              </a:ext>
            </a:extLst>
          </p:cNvPr>
          <p:cNvSpPr txBox="1"/>
          <p:nvPr/>
        </p:nvSpPr>
        <p:spPr>
          <a:xfrm>
            <a:off x="35052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d1c8d32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D2BD588-854D-FDDC-E9AC-6C014F84436E}"/>
              </a:ext>
            </a:extLst>
          </p:cNvPr>
          <p:cNvSpPr/>
          <p:nvPr/>
        </p:nvSpPr>
        <p:spPr>
          <a:xfrm>
            <a:off x="52324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62B7A9-AF84-9EAE-D9E3-E06D24DF52FA}"/>
              </a:ext>
            </a:extLst>
          </p:cNvPr>
          <p:cNvSpPr txBox="1"/>
          <p:nvPr/>
        </p:nvSpPr>
        <p:spPr>
          <a:xfrm>
            <a:off x="49530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v0.4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92AACB-23C3-C582-795F-3C2B48E9F9F9}"/>
              </a:ext>
            </a:extLst>
          </p:cNvPr>
          <p:cNvSpPr txBox="1"/>
          <p:nvPr/>
        </p:nvSpPr>
        <p:spPr>
          <a:xfrm>
            <a:off x="4737100" y="2565400"/>
            <a:ext cx="114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诊断建议与报告生成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127863-5614-9BF0-5A6F-08A1A8776265}"/>
              </a:ext>
            </a:extLst>
          </p:cNvPr>
          <p:cNvSpPr txBox="1"/>
          <p:nvPr/>
        </p:nvSpPr>
        <p:spPr>
          <a:xfrm>
            <a:off x="49530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a2c9ae0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38550BC-6585-9844-CA70-B4EC737C2AF0}"/>
              </a:ext>
            </a:extLst>
          </p:cNvPr>
          <p:cNvSpPr/>
          <p:nvPr/>
        </p:nvSpPr>
        <p:spPr>
          <a:xfrm>
            <a:off x="66802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F9B705-09C0-B523-3ACB-3E3F431E442B}"/>
              </a:ext>
            </a:extLst>
          </p:cNvPr>
          <p:cNvSpPr txBox="1"/>
          <p:nvPr/>
        </p:nvSpPr>
        <p:spPr>
          <a:xfrm>
            <a:off x="64008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v0.5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435218F-AFA1-25F2-81CB-B7194DBD1B62}"/>
              </a:ext>
            </a:extLst>
          </p:cNvPr>
          <p:cNvSpPr txBox="1"/>
          <p:nvPr/>
        </p:nvSpPr>
        <p:spPr>
          <a:xfrm>
            <a:off x="6184900" y="2565400"/>
            <a:ext cx="114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crontab </a:t>
            </a:r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与集成联调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283AB7-5682-7CFF-F269-B44F337D75E1}"/>
              </a:ext>
            </a:extLst>
          </p:cNvPr>
          <p:cNvSpPr txBox="1"/>
          <p:nvPr/>
        </p:nvSpPr>
        <p:spPr>
          <a:xfrm>
            <a:off x="64008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8e76768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328DF87-BF94-FFC8-C882-D17ECBE665AB}"/>
              </a:ext>
            </a:extLst>
          </p:cNvPr>
          <p:cNvSpPr/>
          <p:nvPr/>
        </p:nvSpPr>
        <p:spPr>
          <a:xfrm>
            <a:off x="8128000" y="1803400"/>
            <a:ext cx="152400" cy="152400"/>
          </a:xfrm>
          <a:prstGeom prst="ellipse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35C9FD5-495B-301D-6714-182DD0973899}"/>
              </a:ext>
            </a:extLst>
          </p:cNvPr>
          <p:cNvSpPr txBox="1"/>
          <p:nvPr/>
        </p:nvSpPr>
        <p:spPr>
          <a:xfrm>
            <a:off x="78486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v1.0</a:t>
            </a:r>
            <a:endParaRPr lang="zh-CN" altLang="en-US" sz="940" b="1">
              <a:solidFill>
                <a:srgbClr val="1230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50CDF64-CE14-7B44-163B-1B42D64CC182}"/>
              </a:ext>
            </a:extLst>
          </p:cNvPr>
          <p:cNvSpPr txBox="1"/>
          <p:nvPr/>
        </p:nvSpPr>
        <p:spPr>
          <a:xfrm>
            <a:off x="7632700" y="2565400"/>
            <a:ext cx="114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整体联调与 </a:t>
            </a:r>
            <a:r>
              <a:rPr lang="en-US" altLang="zh-CN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</a:t>
            </a:r>
            <a:endParaRPr lang="zh-CN" altLang="en-US" sz="800">
              <a:solidFill>
                <a:srgbClr val="2B3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32C5848-1EB8-5D72-04F3-2B593186808C}"/>
              </a:ext>
            </a:extLst>
          </p:cNvPr>
          <p:cNvSpPr txBox="1"/>
          <p:nvPr/>
        </p:nvSpPr>
        <p:spPr>
          <a:xfrm>
            <a:off x="78486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5ab1752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2AE5405-E8CD-37A1-49FD-F493D481C2FD}"/>
              </a:ext>
            </a:extLst>
          </p:cNvPr>
          <p:cNvSpPr/>
          <p:nvPr/>
        </p:nvSpPr>
        <p:spPr>
          <a:xfrm>
            <a:off x="9575800" y="1803400"/>
            <a:ext cx="152400" cy="15240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0A81158-A159-1E05-4ADD-10BECEADCB8A}"/>
              </a:ext>
            </a:extLst>
          </p:cNvPr>
          <p:cNvSpPr txBox="1"/>
          <p:nvPr/>
        </p:nvSpPr>
        <p:spPr>
          <a:xfrm>
            <a:off x="92964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9B64F58-925F-C64C-B711-6D1792CA5892}"/>
              </a:ext>
            </a:extLst>
          </p:cNvPr>
          <p:cNvSpPr txBox="1"/>
          <p:nvPr/>
        </p:nvSpPr>
        <p:spPr>
          <a:xfrm>
            <a:off x="9080500" y="2565400"/>
            <a:ext cx="114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流程错误处理</a:t>
            </a:r>
            <a:r>
              <a:rPr lang="en-US" altLang="zh-CN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输出校验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6E0B38-63C4-DAAD-27DA-6832701361F8}"/>
              </a:ext>
            </a:extLst>
          </p:cNvPr>
          <p:cNvSpPr txBox="1"/>
          <p:nvPr/>
        </p:nvSpPr>
        <p:spPr>
          <a:xfrm>
            <a:off x="92964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9f257d2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FEC721C-66A5-B11A-19D5-CF060FE06CB1}"/>
              </a:ext>
            </a:extLst>
          </p:cNvPr>
          <p:cNvSpPr/>
          <p:nvPr/>
        </p:nvSpPr>
        <p:spPr>
          <a:xfrm>
            <a:off x="11023600" y="1803400"/>
            <a:ext cx="152400" cy="15240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31DCAF-C976-2EDB-0E04-2F295E0CCFC0}"/>
              </a:ext>
            </a:extLst>
          </p:cNvPr>
          <p:cNvSpPr txBox="1"/>
          <p:nvPr/>
        </p:nvSpPr>
        <p:spPr>
          <a:xfrm>
            <a:off x="10744200" y="2235200"/>
            <a:ext cx="711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94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3C81823-B8B5-F95D-1A10-EA8BB28F8C40}"/>
              </a:ext>
            </a:extLst>
          </p:cNvPr>
          <p:cNvSpPr txBox="1"/>
          <p:nvPr/>
        </p:nvSpPr>
        <p:spPr>
          <a:xfrm>
            <a:off x="10528300" y="2565400"/>
            <a:ext cx="1143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日志输入选择</a:t>
            </a:r>
            <a:r>
              <a:rPr lang="en-US" altLang="zh-CN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诊断误报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6657DD-B2BA-3825-81CD-EFC4F469E838}"/>
              </a:ext>
            </a:extLst>
          </p:cNvPr>
          <p:cNvSpPr txBox="1"/>
          <p:nvPr/>
        </p:nvSpPr>
        <p:spPr>
          <a:xfrm>
            <a:off x="10744200" y="3175000"/>
            <a:ext cx="711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CN" sz="76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53b2b50</a:t>
            </a:r>
            <a:endParaRPr lang="zh-CN" altLang="en-US" sz="76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F01D83D-4CDD-549B-65C3-40C3B8C07C56}"/>
              </a:ext>
            </a:extLst>
          </p:cNvPr>
          <p:cNvSpPr/>
          <p:nvPr/>
        </p:nvSpPr>
        <p:spPr>
          <a:xfrm>
            <a:off x="787400" y="3937000"/>
            <a:ext cx="10871200" cy="1320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111457D-4823-1036-4C13-A3D190736F11}"/>
              </a:ext>
            </a:extLst>
          </p:cNvPr>
          <p:cNvSpPr txBox="1"/>
          <p:nvPr/>
        </p:nvSpPr>
        <p:spPr>
          <a:xfrm>
            <a:off x="965200" y="4064000"/>
            <a:ext cx="10515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93C5FD"/>
                </a:solidFill>
                <a:latin typeface="Consolas" panose="020B0609020204030204" pitchFamily="49" charset="0"/>
              </a:rPr>
              <a:t>git log --oneline</a:t>
            </a:r>
            <a:endParaRPr lang="zh-CN" altLang="en-US" sz="850">
              <a:solidFill>
                <a:srgbClr val="93C5FD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7458116-F3E7-14D2-2F2A-1A6604A2A00F}"/>
              </a:ext>
            </a:extLst>
          </p:cNvPr>
          <p:cNvSpPr txBox="1"/>
          <p:nvPr/>
        </p:nvSpPr>
        <p:spPr>
          <a:xfrm>
            <a:off x="965200" y="4368800"/>
            <a:ext cx="105156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53b2b50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修复完整流程日志分析输入选择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9f257d2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修复完整巡检流程错误处理与输出校验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53e66c4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完善 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README.md: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添加项目说明、运行指南和开发过程记录
</a:t>
            </a:r>
            <a:r>
              <a:rPr lang="en-US" altLang="zh-CN" sz="840">
                <a:solidFill>
                  <a:srgbClr val="E5E7EB"/>
                </a:solidFill>
                <a:latin typeface="Consolas" panose="020B0609020204030204" pitchFamily="49" charset="0"/>
              </a:rPr>
              <a:t>5ab1752 V1.0: </a:t>
            </a:r>
            <a:r>
              <a:rPr lang="zh-CN" altLang="en-US" sz="840">
                <a:solidFill>
                  <a:srgbClr val="E5E7EB"/>
                </a:solidFill>
                <a:latin typeface="Consolas" panose="020B0609020204030204" pitchFamily="49" charset="0"/>
              </a:rPr>
              <a:t>整体联调完成，正式发布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E2DB486-7070-0876-8132-5EF693257DA6}"/>
              </a:ext>
            </a:extLst>
          </p:cNvPr>
          <p:cNvSpPr txBox="1"/>
          <p:nvPr/>
        </p:nvSpPr>
        <p:spPr>
          <a:xfrm>
            <a:off x="1143000" y="5664200"/>
            <a:ext cx="990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答辩重点：能解释每次迭代解决了什么问题，尤其是最后两次真实 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Bug 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修复。</a:t>
            </a:r>
          </a:p>
        </p:txBody>
      </p:sp>
    </p:spTree>
    <p:extLst>
      <p:ext uri="{BB962C8B-B14F-4D97-AF65-F5344CB8AC3E}">
        <p14:creationId xmlns:p14="http://schemas.microsoft.com/office/powerpoint/2010/main" val="11670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D0DD5B-7943-B955-0C60-161ADAE12283}"/>
              </a:ext>
            </a:extLst>
          </p:cNvPr>
          <p:cNvSpPr txBox="1"/>
          <p:nvPr/>
        </p:nvSpPr>
        <p:spPr>
          <a:xfrm>
            <a:off x="508000" y="3048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22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分工说明与项目总结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C19D5-1B97-E2DB-9A02-0CCA05B11FC3}"/>
              </a:ext>
            </a:extLst>
          </p:cNvPr>
          <p:cNvSpPr txBox="1"/>
          <p:nvPr/>
        </p:nvSpPr>
        <p:spPr>
          <a:xfrm>
            <a:off x="9588500" y="393700"/>
            <a:ext cx="2286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zh-CN" altLang="en-US" sz="9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如实说明模块边界，重点展示理解和运行能力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2B9D251-5066-4DE7-79E6-2353EF6E9731}"/>
              </a:ext>
            </a:extLst>
          </p:cNvPr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1C574C0-D3DD-195F-3FD5-1B01CA77F622}"/>
              </a:ext>
            </a:extLst>
          </p:cNvPr>
          <p:cNvSpPr txBox="1"/>
          <p:nvPr/>
        </p:nvSpPr>
        <p:spPr>
          <a:xfrm>
            <a:off x="508000" y="6477000"/>
            <a:ext cx="660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 | Linux </a:t>
            </a:r>
            <a:r>
              <a:rPr lang="zh-CN" altLang="en-US" sz="850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运维智能巡检与日志诊断助手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023123-3777-1A83-283B-F623B6C7BA32}"/>
              </a:ext>
            </a:extLst>
          </p:cNvPr>
          <p:cNvSpPr txBox="1"/>
          <p:nvPr/>
        </p:nvSpPr>
        <p:spPr>
          <a:xfrm>
            <a:off x="11303000" y="6438900"/>
            <a:ext cx="57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US" altLang="zh-CN" sz="950" b="1">
                <a:solidFill>
                  <a:srgbClr val="8792A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950" b="1">
              <a:solidFill>
                <a:srgbClr val="8792A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44F9CC2-B30B-B6E5-A523-BA115292C580}"/>
              </a:ext>
            </a:extLst>
          </p:cNvPr>
          <p:cNvSpPr/>
          <p:nvPr/>
        </p:nvSpPr>
        <p:spPr>
          <a:xfrm>
            <a:off x="711200" y="1168400"/>
            <a:ext cx="35179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9B856B-2C5D-1CD7-8B08-4928D98190FF}"/>
              </a:ext>
            </a:extLst>
          </p:cNvPr>
          <p:cNvSpPr/>
          <p:nvPr/>
        </p:nvSpPr>
        <p:spPr>
          <a:xfrm>
            <a:off x="711200" y="1168400"/>
            <a:ext cx="76200" cy="13462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1647A9-A06D-B771-D0C2-0A68A1D0B49F}"/>
              </a:ext>
            </a:extLst>
          </p:cNvPr>
          <p:cNvSpPr txBox="1"/>
          <p:nvPr/>
        </p:nvSpPr>
        <p:spPr>
          <a:xfrm>
            <a:off x="914400" y="1295400"/>
            <a:ext cx="31623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主入口 </a:t>
            </a:r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版本管理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BCD6EA-F9A4-F28A-9927-44D7169A0BD2}"/>
              </a:ext>
            </a:extLst>
          </p:cNvPr>
          <p:cNvSpPr txBox="1"/>
          <p:nvPr/>
        </p:nvSpPr>
        <p:spPr>
          <a:xfrm>
            <a:off x="914400" y="1714500"/>
            <a:ext cx="31623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ops-assist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：命令解析、流程调度
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：版本迭代、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Bug 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修复、远程推送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6CA5835-D5AF-3052-E1C0-68B9AF0B2384}"/>
              </a:ext>
            </a:extLst>
          </p:cNvPr>
          <p:cNvSpPr/>
          <p:nvPr/>
        </p:nvSpPr>
        <p:spPr>
          <a:xfrm>
            <a:off x="4432300" y="1168400"/>
            <a:ext cx="35179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F07394-00AB-40CB-1A97-D3BC4B1316C8}"/>
              </a:ext>
            </a:extLst>
          </p:cNvPr>
          <p:cNvSpPr/>
          <p:nvPr/>
        </p:nvSpPr>
        <p:spPr>
          <a:xfrm>
            <a:off x="4432300" y="1168400"/>
            <a:ext cx="76200" cy="1346200"/>
          </a:xfrm>
          <a:prstGeom prst="rect">
            <a:avLst/>
          </a:prstGeom>
          <a:solidFill>
            <a:srgbClr val="1D73BE"/>
          </a:solidFill>
          <a:ln w="12700">
            <a:solidFill>
              <a:srgbClr val="1D7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97F9F9-B03D-166C-247F-48C26F155FB6}"/>
              </a:ext>
            </a:extLst>
          </p:cNvPr>
          <p:cNvSpPr txBox="1"/>
          <p:nvPr/>
        </p:nvSpPr>
        <p:spPr>
          <a:xfrm>
            <a:off x="4635500" y="1295400"/>
            <a:ext cx="31623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系统巡检 </a:t>
            </a:r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BD6C0A-FADA-E943-145E-637B8CD356F9}"/>
              </a:ext>
            </a:extLst>
          </p:cNvPr>
          <p:cNvSpPr txBox="1"/>
          <p:nvPr/>
        </p:nvSpPr>
        <p:spPr>
          <a:xfrm>
            <a:off x="4635500" y="1714500"/>
            <a:ext cx="31623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check_system.sh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：系统状态采集
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log_analyzer.sh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：关键词过滤、统计、上下文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5651C69-8BC4-3BA5-0D2C-A8E1B822B59D}"/>
              </a:ext>
            </a:extLst>
          </p:cNvPr>
          <p:cNvSpPr/>
          <p:nvPr/>
        </p:nvSpPr>
        <p:spPr>
          <a:xfrm>
            <a:off x="8153400" y="1168400"/>
            <a:ext cx="27432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393448-8B81-822E-C07E-9F0E67BF1FB7}"/>
              </a:ext>
            </a:extLst>
          </p:cNvPr>
          <p:cNvSpPr/>
          <p:nvPr/>
        </p:nvSpPr>
        <p:spPr>
          <a:xfrm>
            <a:off x="8153400" y="1168400"/>
            <a:ext cx="76200" cy="134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A34388-096E-DC39-0491-A082261831E7}"/>
              </a:ext>
            </a:extLst>
          </p:cNvPr>
          <p:cNvSpPr txBox="1"/>
          <p:nvPr/>
        </p:nvSpPr>
        <p:spPr>
          <a:xfrm>
            <a:off x="8356600" y="1295400"/>
            <a:ext cx="2387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 </a:t>
            </a:r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 </a:t>
            </a:r>
            <a:r>
              <a:rPr lang="en-US" altLang="zh-CN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6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14F5B1A-8149-87A2-DAD4-C6B83AA62F55}"/>
              </a:ext>
            </a:extLst>
          </p:cNvPr>
          <p:cNvSpPr txBox="1"/>
          <p:nvPr/>
        </p:nvSpPr>
        <p:spPr>
          <a:xfrm>
            <a:off x="8356600" y="1714500"/>
            <a:ext cx="2387600" cy="14773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diagnose.py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：规则建议
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report.py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：报告生成
</a:t>
            </a:r>
            <a:r>
              <a:rPr lang="en-US" altLang="zh-CN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test_workflow.sh</a:t>
            </a:r>
            <a:r>
              <a:rPr lang="zh-CN" altLang="en-US" sz="102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：自动测试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DC0C01-4A56-2B95-23E3-33445A4DC8C9}"/>
              </a:ext>
            </a:extLst>
          </p:cNvPr>
          <p:cNvSpPr/>
          <p:nvPr/>
        </p:nvSpPr>
        <p:spPr>
          <a:xfrm>
            <a:off x="711200" y="2971800"/>
            <a:ext cx="5207000" cy="16256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D88E57-C7B9-9935-FEC8-4DBF63B0C4A4}"/>
              </a:ext>
            </a:extLst>
          </p:cNvPr>
          <p:cNvSpPr txBox="1"/>
          <p:nvPr/>
        </p:nvSpPr>
        <p:spPr>
          <a:xfrm>
            <a:off x="965200" y="3200400"/>
            <a:ext cx="1778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5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项目收获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77B10B-3F87-B96B-0883-A6818691C9C7}"/>
              </a:ext>
            </a:extLst>
          </p:cNvPr>
          <p:cNvSpPr txBox="1"/>
          <p:nvPr/>
        </p:nvSpPr>
        <p:spPr>
          <a:xfrm>
            <a:off x="965200" y="3606800"/>
            <a:ext cx="44450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熟悉 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系统状态采集命令
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掌握 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Bash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参数解析、管道和重定向
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学会用 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记录迭代和调试过程
</a:t>
            </a:r>
            <a:r>
              <a:rPr lang="en-US" altLang="zh-CN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08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理解自动化运维的基本闭环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F784BE-30D5-223D-8BBF-1CB90C4D00BE}"/>
              </a:ext>
            </a:extLst>
          </p:cNvPr>
          <p:cNvSpPr/>
          <p:nvPr/>
        </p:nvSpPr>
        <p:spPr>
          <a:xfrm>
            <a:off x="6299200" y="2971800"/>
            <a:ext cx="4597400" cy="16256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D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4DFB7D-F562-C701-1890-0F1AF0613740}"/>
              </a:ext>
            </a:extLst>
          </p:cNvPr>
          <p:cNvSpPr txBox="1"/>
          <p:nvPr/>
        </p:nvSpPr>
        <p:spPr>
          <a:xfrm>
            <a:off x="6553200" y="32004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50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如实答辩口径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B22B28-0A89-EABC-E4D0-3C13159B4FC8}"/>
              </a:ext>
            </a:extLst>
          </p:cNvPr>
          <p:cNvSpPr txBox="1"/>
          <p:nvPr/>
        </p:nvSpPr>
        <p:spPr>
          <a:xfrm>
            <a:off x="6553200" y="3606800"/>
            <a:ext cx="39370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CN" altLang="en-US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项目按模块划分讲解；</a:t>
            </a:r>
            <a:r>
              <a:rPr lang="en-US" altLang="zh-CN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050">
                <a:solidFill>
                  <a:srgbClr val="2B3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提交记录体现真实开发和修复过程。不要声称不存在的个人提交，老师问到时说明模块代码逻辑和调试过程。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B579E1-B039-C946-D63D-449B0D62755C}"/>
              </a:ext>
            </a:extLst>
          </p:cNvPr>
          <p:cNvSpPr txBox="1"/>
          <p:nvPr/>
        </p:nvSpPr>
        <p:spPr>
          <a:xfrm>
            <a:off x="889000" y="5435600"/>
            <a:ext cx="10414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后续改进：接入邮件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企业微信告警、增加历史趋势图、支持更多发行版日志格式、提供 </a:t>
            </a:r>
            <a:r>
              <a:rPr lang="en-US" altLang="zh-CN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220" b="1">
                <a:solidFill>
                  <a:srgbClr val="1230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可视化页面。</a:t>
            </a:r>
          </a:p>
        </p:txBody>
      </p:sp>
    </p:spTree>
    <p:extLst>
      <p:ext uri="{BB962C8B-B14F-4D97-AF65-F5344CB8AC3E}">
        <p14:creationId xmlns:p14="http://schemas.microsoft.com/office/powerpoint/2010/main" val="427972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</Words>
  <Application>Microsoft Office PowerPoint</Application>
  <PresentationFormat>自定义</PresentationFormat>
  <Paragraphs>160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茂天 李</dc:creator>
  <cp:lastModifiedBy>茂天 李</cp:lastModifiedBy>
  <cp:revision>1</cp:revision>
  <dcterms:created xsi:type="dcterms:W3CDTF">2026-06-06T07:27:41Z</dcterms:created>
  <dcterms:modified xsi:type="dcterms:W3CDTF">2026-06-06T07:27:41Z</dcterms:modified>
</cp:coreProperties>
</file>